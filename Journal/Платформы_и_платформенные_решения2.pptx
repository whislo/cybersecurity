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0E0503B2-7E30-BE47-1952-FF6C9FD75237}">
          <p14:sldIdLst>
            <p14:sldId id="256"/>
          </p14:sldIdLst>
        </p14:section>
        <p14:section name="Понятие платформы" id="{BE1200E7-DFDB-5B67-0FC2-46C75650E203}">
          <p14:sldIdLst>
            <p14:sldId id="257"/>
            <p14:sldId id="258"/>
            <p14:sldId id="259"/>
            <p14:sldId id="260"/>
          </p14:sldIdLst>
        </p14:section>
        <p14:section name="Где применяются" id="{BB763AC6-CA95-7D16-F80B-B74EE242EC03}">
          <p14:sldIdLst>
            <p14:sldId id="261"/>
          </p14:sldIdLst>
        </p14:section>
        <p14:section name="Отечественные решения" id="{94304DFB-F5F7-7377-7A2C-70784DFA94C5}">
          <p14:sldIdLst>
            <p14:sldId id="262"/>
            <p14:sldId id="263"/>
            <p14:sldId id="264"/>
            <p14:sldId id="265"/>
          </p14:sldIdLst>
        </p14:section>
        <p14:section name="Оценка" id="{8D69FECE-09E4-0168-1E1A-7371D92599F8}">
          <p14:sldIdLst>
            <p14:sldId id="266"/>
          </p14:sldIdLst>
        </p14:section>
        <p14:section name="ИИ-платформы" id="{AC9AD918-9016-C4E5-2579-E71E7E7DCAF8}">
          <p14:sldIdLst>
            <p14:sldId id="267"/>
            <p14:sldId id="268"/>
            <p14:sldId id="269"/>
          </p14:sldIdLst>
        </p14:section>
        <p14:section name="Выводы" id="{6E3D368F-6158-0AC0-6F57-0FBF7F29FEF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9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44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Тема моего доклада — платформы и платформенные решения. За последние десять лет слово «платформа» стало одним из самых употребляемых в ИТ и управлении: платформой называют и Госуслуги, и маркетплейсы, и облачные сервисы, и системы искусственного интеллекта. Я разберу, что на самом деле стоит за этим термином, какие бывают платформы, чем они отличаются от привычных программ и информационных систем, где применяются, какие у них сильные и слабые стороны, и отдельно остановлюсь на ИИ-платформах и их перспективах. Примеры в основном отечественные — Госуслуги, ГИСОГД, 1С, экосистемы Сбера и Яндекса, а среди ИИ-решений — татарстанский ГосПромт.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Платформа — это не просто большая программа. Это основа, на которой другие участники строят свои продукты, сервисы и взаимодействие. У платформы четыре ключевых признака. Первый — общее ядро: единые данные, идентификация, правила. Второй — открытые интерфейсы, через которые к ядру подключаются сторонние модули и сервисы. Третий — множество участников с разными ролями: пользователи, поставщики услуг, разработчики, регулятор. И четвёртый — сетевой эффект: чем больше участников, тем ценнее платформа для каждого из них. Если убрать любой из этих признаков, перед нами скорее система или приложение, а не платформа.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Полезно выстроить три понятия в один ряд. Программа решает одну задачу для одного пользователя — текстовый редактор, калькулятор, антивирус. Информационная система объединяет несколько программ, базу данных и процессы одной организации — бухгалтерия, документооборот, ГИС градостроительной деятельности. Платформа идёт дальше: она обслуживает не одну организацию, а целое сообщество, и её функциональность растёт за счёт внешних участников, а не только за счёт разработчика. Главное отличие — у платформы ценность создают сами участники, а владелец задаёт правила и инфраструктуру. Именно поэтому платформа масштабируется быстрее, чем любая система.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Платформы принято делить на несколько типов. Технологические — это операционные системы, облака, среды разработки: на них строят другие продукты. Транзакционные, или маркетплейсы, сводят спрос и предложение — Ozon, Wildberries, Авито. Инновационные экосистемы объединяют много сервисов вокруг одного аккаунта и подписки — Сбер, Яндекс, VK. Платформы данных и ИИ дают доступ к моделям и инструментам их обучения. Отраслевые и государственные платформы, такие как Госуслуги или ЕГИСЗ, обслуживают определённую сферу. И наконец, low-code-платформы позволяют собирать приложения без программирования. На практике крупные платформы совмещают несколько типов.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посмотреть на платформу в разрезе, мы увидим несколько слоёв. В основании — инфраструктура: серверы, облако, сети. Над ней — ядро платформы: единые данные, идентификация и доступ, платежи, уведомления, журналирование. Следующий слой — API и инструменты интеграции, через которые к ядру подключают сервисы. Выше — сами сервисы и приложения, которые создают и владелец платформы, и внешние разработчики. И на верхнем уровне — участники: граждане, бизнес, ведомства, разработчики. Такая слоистая архитектура позволяет менять и добавлять сервисы, не затрагивая ядро, и подключать новых участников без переписывания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Платформенный подход сегодня используется практически везде. В государственном управлении это Госуслуги, МФЦ, региональные порталы. В финансах — экосистемы банков, система быстрых платежей, маркетплейсы финансовых продуктов. В торговле — маркетплейсы, которые уже обеспечивают значительную долю розницы. В образовании — платформы онлайн-курсов и цифровые школы. В промышленности — промышленный интернет вещей и платформы управления производством. В здравоохранении — ЕГИСЗ и телемедицина. В транспорте — агрегаторы такси и логистические платформы. В градостроительстве и управлении территориями — ГИС-платформы, в том числе ГИСОГД, с которыми работает и наш институт.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Самые известные отечественные платформы — государственные. Госуслуги — единый портал, через который граждане и бизнес получают услуги ведомств. ГИСОГД — государственная информационная система обеспечения градостроительной деятельности, в которой регионы и муниципалитеты ведут данные о территории; к ней мы вернёмся отдельно. ЕСИА и цифровой профиль — единая идентификация, которой пользуются не только госсервисы, но и банки, и коммерческие компании. Платформа обратной связи позволяет гражданам обращаться в органы власти через единый канал, а Работа России — государственная платформа занятости. Все они построены на общих принципах: единое ядро, единая авторизация, подключаемые ведомственные сервисы. Но не всё, что называют платформой, является ею в строгом смысле — это хорошо видно на примере ГИСОГД.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Несколько цифр, чтобы оценить масштаб. По данным Минцифры на середину 2026 года, у Госуслуг 112 миллионов пользователей — это почти всё взрослое население страны. На портале доступно более 1,6 тысячи услуг. Ежедневная аудитория за пять лет выросла с 3,8 до 14 миллионов человек. Максимальный срок оказания услуги сократился с 11 дней до 72 часов. Важно понимать, что сами Госуслуги не оказывают услуги — это платформа: она принимает заявление, идентифицирует гражданина, передаёт данные в ведомство и возвращает результат. Ведомства — это участники платформы, а Госуслуги — её ядро и витрина.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пример, близкий нашей отрасли, — ГИСОГД, государственная информационная система обеспечения градостроительной деятельности. Она ведётся по статьям 56–57 Градостроительного кодекса: регионы и муниципалитеты размещают в ней генпланы, правила землепользования и застройки, документацию по планировке, градостроительные планы участков, сведения о зонах с особыми условиями. Данные обмениваются с ЕГРН, ФГИС ТП и НСПД через СМЭВ. Проверим её по признакам платформы. Общее ядро — есть: это единый реестр градостроительных данных региона. Открытые интерфейсы — частично: межведомственный обмен налажен, но открытого API для сторонних разработчиков, как правило, нет. Много участников — частично: органы власти ведут, застройщики и граждане получают сведения, но роли жёстко заданы регламентом, и новые сервисы добавляет только оператор. Сетевой эффект — отсутствует: ценность ГИСОГД определяется полнотой и качеством данных, а не числом подключённых участников. Вывод: по своей природе ГИСОГД — информационная система с отдельными чертами платформы. Платформой она станет тогда, когда на её данных начнут работать внешние сервисы — проверка ограничений на участке, онлайн-выдача ГПЗУ, аналитика для территориального планирования.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Среди коммерческих отечественных платформ выделю несколько. 1С:Предприятие — классическая технологическая платформа: сама по себе она ничего не считает, но на ней построены тысячи прикладных решений от разных разработчиков. Экосистема Сбера объединяет банк, маркетплейс, медиа и ИИ-сервисы вокруг одной подписки. Яндекс — поиск, такси, доставка, облако и нейросети. VK — соцсети, мессенджер, образование и облако. Ozon и Wildberries — транзакционные платформы, на которых работают сотни тысяч продавцов. Битрикс24 и Контур — платформы для бизнеса: CRM, документооборот, отчётность, с магазинами приложений. Общее у всех — внешние участники создают заметную часть ценности.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платформенного подхода есть очевидные преимущества. Быстрое масштабирование: новые участники подключаются без переработки ядра. Единый вход и единые данные — пользователю не нужно заводить десятки аккаунтов. Снижение стоимости — типовые компоненты переиспользуются. И сетевой эффект, который растит ценность платформы быстрее, чем затраты на неё. Но есть и обратная сторона. Зависимость от владельца платформы: он диктует правила, комиссии, формат данных. Концентрация рисков — сбой или утечка на платформе затрагивает всех сразу. Монополизация рынка. Сложность миграции: уйти с платформы бывает дороже, чем на неё прийти. Для государства и крупных организаций это аргумент за собственные, суверенные платформы.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Отдельный класс — ИИ-платформы. Это не просто чат-бот, а целый стек. В основании — большие языковые и мультимодальные модели. Над ними — инструменты: программный интерфейс, дообучение на своих данных, поиск по документам, агенты, которые выполняют многошаговые задачи. На верхнем уровне — готовые приложения: ассистенты, генерация текста и изображений, анализ данных, автоматизация поддержки. Ключевое отличие ИИ-платформы от отдельной модели — именно инструменты и экосистема: разработчики строят на ней свои продукты, как когда-то строили на операционной системе. Для организаций важен и вопрос размещения: облако провайдера или локальное развёртывание моделей в своём контуре.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Российские ИИ-платформы развиваются быстро. GigaChat от Сбера — семейство моделей, API и готовые сервисы, встроенные в экосистему банка и в государственные сервисы. Яндекс развивает YandexGPT и Алису AI, а для бизнеса — Yandex Cloud AI Studio с моделями, векторным поиском и агентами. Cotype от MTS AI ориентирован на корпоративный сектор и локальное развёртывание. Т-Банк выпустил открытые модели T-Pro, которые можно запускать на своей инфраструктуре. Kandinsky — генерация изображений и видео. Отдельно отмечу региональный пример — ГосПромт: ИИ-помощник для госслужащих Татарстана, запущенный Минцифры республики в 2025 году на открытых языковых моделях. Им пользуются сотрудники 25 ведомств — для работы с документами, анализа данных и нормативных актов, а в 2026 году ассистент выводится в мессенджер MAX для граждан. Важная тенденция — переход от закрытых чат-сервисов к открытым моделям, которые организации разворачивают у себя.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Куда всё движется. Во-первых, ИИ становится слоем внутри каждой платформы: на Госуслугах уже работает ИИ-помощник, в экосистемах — рекомендации и генерация контента. Во-вторых, появляются ИИ-агенты, которые не отвечают на вопросы, а выполняют задачи: оформляют заявления, сверяют документы, администрируют системы. В-третьих, ИИ-помощники приходят в само госуправление: в Татарстане уже работает ГосПромт для госслужащих, следующий шаг — агенты внутри ведомственных систем, которые сами готовят документы и проверяют данные. В-четвёртых, растёт спрос на суверенные решения — открытые модели и локальное развёртывание в собственном контуре. И наконец, усиливается регулирование: закон о платформенной экономике, требования к ИИ, защита персональных данных. Для ИТ-специалистов это означает, что умение интегрироваться с платформами и разворачивать ИИ-модели становится базовым навыком.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Платформа — это основа с единым ядром и открытыми интерфейсами, на которой ценность создают сами участники. Этим она отличается и от программы, и от информационной системы. Платформы бывают технологическими, транзакционными, экосистемными, отраслевыми, государственными и ИИ-платформами, и крупные решения совмещают несколько типов. Россия построила одну из самых масштабных государственных платформ — Госуслуги — и развивает собственные ИИ-платформы, в том числе региональные, как ГосПромт. При этом многие государственные системы, включая ГИСОГД, пока остаются именно системами — платформами они станут, когда откроют свои данные и интерфейсы внешним сервисам. Платформенный подход даёт масштаб и экономию, но требует управлять зависимостью и рисками концентрации. И главный вектор на ближайшие годы — ИИ-агенты внутри платформ и суверенные модели, которые организации разворачивают у себя.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600200"/>
            <a:ext cx="5394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4612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footer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Платформы и платформенные решения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6002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Платформы и платформенные решения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46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Что это такое, какие бывают, где применяются и куда движутся</a:t>
            </a:r>
            <a:endParaRPr lang="en-US" sz="1800" dirty="0"/>
          </a:p>
        </p:txBody>
      </p:sp>
      <p:sp>
        <p:nvSpPr>
          <p:cNvPr id="5" name="date"/>
          <p:cNvSpPr txBox="1"/>
          <p:nvPr/>
        </p:nvSpPr>
        <p:spPr>
          <a:xfrm>
            <a:off x="54864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Октябрь 2026</a:t>
            </a:r>
            <a:endParaRPr lang="en-US" sz="1200" dirty="0"/>
          </a:p>
        </p:txBody>
      </p:sp>
      <p:sp>
        <p:nvSpPr>
          <p:cNvPr id="6" name="cluster MdHub circle"/>
          <p:cNvSpPr/>
          <p:nvPr/>
        </p:nvSpPr>
        <p:spPr>
          <a:xfrm>
            <a:off x="6675120" y="1097280"/>
            <a:ext cx="1371600" cy="1371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7" name="cluster MdHub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1426464"/>
            <a:ext cx="713232" cy="713232"/>
          </a:xfrm>
          <a:prstGeom prst="rect">
            <a:avLst/>
          </a:prstGeom>
        </p:spPr>
      </p:pic>
      <p:sp>
        <p:nvSpPr>
          <p:cNvPr id="8" name="cluster MdGroups circle"/>
          <p:cNvSpPr/>
          <p:nvPr/>
        </p:nvSpPr>
        <p:spPr>
          <a:xfrm>
            <a:off x="7818120" y="2057400"/>
            <a:ext cx="868680" cy="8686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9" name="cluster MdGroup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603" y="2265883"/>
            <a:ext cx="451714" cy="451714"/>
          </a:xfrm>
          <a:prstGeom prst="rect">
            <a:avLst/>
          </a:prstGeom>
        </p:spPr>
      </p:pic>
      <p:sp>
        <p:nvSpPr>
          <p:cNvPr id="10" name="cluster MdApi circle"/>
          <p:cNvSpPr/>
          <p:nvPr/>
        </p:nvSpPr>
        <p:spPr>
          <a:xfrm>
            <a:off x="5943600" y="2514600"/>
            <a:ext cx="868680" cy="868680"/>
          </a:xfrm>
          <a:prstGeom prst="ellipse">
            <a:avLst/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pic>
        <p:nvPicPr>
          <p:cNvPr id="11" name="cluster MdApi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3" y="2723083"/>
            <a:ext cx="451714" cy="451714"/>
          </a:xfrm>
          <a:prstGeom prst="rect">
            <a:avLst/>
          </a:prstGeom>
        </p:spPr>
      </p:pic>
      <p:sp>
        <p:nvSpPr>
          <p:cNvPr id="12" name="cluster MdSmartToy circle"/>
          <p:cNvSpPr/>
          <p:nvPr/>
        </p:nvSpPr>
        <p:spPr>
          <a:xfrm>
            <a:off x="7040880" y="3063240"/>
            <a:ext cx="1143000" cy="114300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13" name="cluster MdSmartToy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33756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Что такое платформа</a:t>
            </a:r>
            <a:endParaRPr lang="en-US" sz="2800" dirty="0"/>
          </a:p>
        </p:txBody>
      </p:sp>
      <p:sp>
        <p:nvSpPr>
          <p:cNvPr id="4" name="def card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definition"/>
          <p:cNvSpPr txBox="1"/>
          <p:nvPr/>
        </p:nvSpPr>
        <p:spPr>
          <a:xfrm>
            <a:off x="731520" y="14630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Платформа — основа, на которой другие участники создают продукты и сервисы и взаимодействуют друг с другом, опираясь на общее ядро и общие правила.</a:t>
            </a:r>
            <a:endParaRPr lang="en-US" sz="1700" dirty="0"/>
          </a:p>
        </p:txBody>
      </p:sp>
      <p:sp>
        <p:nvSpPr>
          <p:cNvPr id="6" name="definition tagline"/>
          <p:cNvSpPr txBox="1"/>
          <p:nvPr/>
        </p:nvSpPr>
        <p:spPr>
          <a:xfrm>
            <a:off x="73152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Владелец задаёт правила и инфраструктуру — ценность создают участники.</a:t>
            </a:r>
            <a:endParaRPr lang="en-US" sz="1300" dirty="0"/>
          </a:p>
        </p:txBody>
      </p:sp>
      <p:sp>
        <p:nvSpPr>
          <p:cNvPr id="7" name="sign 0 circle"/>
          <p:cNvSpPr/>
          <p:nvPr/>
        </p:nvSpPr>
        <p:spPr>
          <a:xfrm>
            <a:off x="4754880" y="123444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8" name="sign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554" y="1366114"/>
            <a:ext cx="285293" cy="285293"/>
          </a:xfrm>
          <a:prstGeom prst="rect">
            <a:avLst/>
          </a:prstGeom>
        </p:spPr>
      </p:pic>
      <p:sp>
        <p:nvSpPr>
          <p:cNvPr id="9" name="sign title 0"/>
          <p:cNvSpPr txBox="1"/>
          <p:nvPr/>
        </p:nvSpPr>
        <p:spPr>
          <a:xfrm>
            <a:off x="548640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Общее ядро</a:t>
            </a:r>
            <a:endParaRPr lang="en-US" sz="1500" dirty="0"/>
          </a:p>
        </p:txBody>
      </p:sp>
      <p:sp>
        <p:nvSpPr>
          <p:cNvPr id="10" name="sign desc 0"/>
          <p:cNvSpPr txBox="1"/>
          <p:nvPr/>
        </p:nvSpPr>
        <p:spPr>
          <a:xfrm>
            <a:off x="548640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Единые данные, идентификация, правила для всех участников</a:t>
            </a:r>
            <a:endParaRPr lang="en-US" sz="1200" dirty="0"/>
          </a:p>
        </p:txBody>
      </p:sp>
      <p:sp>
        <p:nvSpPr>
          <p:cNvPr id="11" name="sign 1 circle"/>
          <p:cNvSpPr/>
          <p:nvPr/>
        </p:nvSpPr>
        <p:spPr>
          <a:xfrm>
            <a:off x="4754880" y="208483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2" name="sign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554" y="2216506"/>
            <a:ext cx="285293" cy="285293"/>
          </a:xfrm>
          <a:prstGeom prst="rect">
            <a:avLst/>
          </a:prstGeom>
        </p:spPr>
      </p:pic>
      <p:sp>
        <p:nvSpPr>
          <p:cNvPr id="13" name="sign title 1"/>
          <p:cNvSpPr txBox="1"/>
          <p:nvPr/>
        </p:nvSpPr>
        <p:spPr>
          <a:xfrm>
            <a:off x="54864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Открытые интерфейсы</a:t>
            </a:r>
            <a:endParaRPr lang="en-US" sz="1500" dirty="0"/>
          </a:p>
        </p:txBody>
      </p:sp>
      <p:sp>
        <p:nvSpPr>
          <p:cNvPr id="14" name="sign desc 1"/>
          <p:cNvSpPr txBox="1"/>
          <p:nvPr/>
        </p:nvSpPr>
        <p:spPr>
          <a:xfrm>
            <a:off x="5486400" y="23408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API и инструменты, через которые подключают внешние сервисы</a:t>
            </a:r>
            <a:endParaRPr lang="en-US" sz="1200" dirty="0"/>
          </a:p>
        </p:txBody>
      </p:sp>
      <p:sp>
        <p:nvSpPr>
          <p:cNvPr id="15" name="sign 2 circle"/>
          <p:cNvSpPr/>
          <p:nvPr/>
        </p:nvSpPr>
        <p:spPr>
          <a:xfrm>
            <a:off x="4754880" y="2935224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6" name="sign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554" y="3066898"/>
            <a:ext cx="285293" cy="285293"/>
          </a:xfrm>
          <a:prstGeom prst="rect">
            <a:avLst/>
          </a:prstGeom>
        </p:spPr>
      </p:pic>
      <p:sp>
        <p:nvSpPr>
          <p:cNvPr id="17" name="sign title 2"/>
          <p:cNvSpPr txBox="1"/>
          <p:nvPr/>
        </p:nvSpPr>
        <p:spPr>
          <a:xfrm>
            <a:off x="548640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Много участников</a:t>
            </a:r>
            <a:endParaRPr lang="en-US" sz="1500" dirty="0"/>
          </a:p>
        </p:txBody>
      </p:sp>
      <p:sp>
        <p:nvSpPr>
          <p:cNvPr id="18" name="sign desc 2"/>
          <p:cNvSpPr txBox="1"/>
          <p:nvPr/>
        </p:nvSpPr>
        <p:spPr>
          <a:xfrm>
            <a:off x="5486400" y="31912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Пользователи, поставщики услуг, разработчики, регулятор</a:t>
            </a:r>
            <a:endParaRPr lang="en-US" sz="1200" dirty="0"/>
          </a:p>
        </p:txBody>
      </p:sp>
      <p:sp>
        <p:nvSpPr>
          <p:cNvPr id="19" name="sign 3 circle"/>
          <p:cNvSpPr/>
          <p:nvPr/>
        </p:nvSpPr>
        <p:spPr>
          <a:xfrm>
            <a:off x="4754880" y="3785616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0" name="sign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554" y="3917290"/>
            <a:ext cx="285293" cy="285293"/>
          </a:xfrm>
          <a:prstGeom prst="rect">
            <a:avLst/>
          </a:prstGeom>
        </p:spPr>
      </p:pic>
      <p:sp>
        <p:nvSpPr>
          <p:cNvPr id="21" name="sign title 3"/>
          <p:cNvSpPr txBox="1"/>
          <p:nvPr/>
        </p:nvSpPr>
        <p:spPr>
          <a:xfrm>
            <a:off x="5486400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Сетевой эффект</a:t>
            </a:r>
            <a:endParaRPr lang="en-US" sz="1500" dirty="0"/>
          </a:p>
        </p:txBody>
      </p:sp>
      <p:sp>
        <p:nvSpPr>
          <p:cNvPr id="22" name="sign desc 3"/>
          <p:cNvSpPr txBox="1"/>
          <p:nvPr/>
        </p:nvSpPr>
        <p:spPr>
          <a:xfrm>
            <a:off x="5486400" y="40416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Чем больше участников, тем выше ценность для каждого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Программа, система, платформа</a:t>
            </a:r>
            <a:endParaRPr lang="en-US" sz="2800" dirty="0"/>
          </a:p>
        </p:txBody>
      </p:sp>
      <p:sp>
        <p:nvSpPr>
          <p:cNvPr id="4" name="col 0 card"/>
          <p:cNvSpPr/>
          <p:nvPr/>
        </p:nvSpPr>
        <p:spPr>
          <a:xfrm>
            <a:off x="457200" y="123444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col icon 0 circl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6" name="col icon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594714"/>
            <a:ext cx="285293" cy="285293"/>
          </a:xfrm>
          <a:prstGeom prst="rect">
            <a:avLst/>
          </a:prstGeom>
        </p:spPr>
      </p:pic>
      <p:sp>
        <p:nvSpPr>
          <p:cNvPr id="7" name="col name 0"/>
          <p:cNvSpPr txBox="1"/>
          <p:nvPr/>
        </p:nvSpPr>
        <p:spPr>
          <a:xfrm>
            <a:off x="685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</a:rPr>
              <a:t>Программа</a:t>
            </a:r>
            <a:endParaRPr lang="en-US" sz="1600" dirty="0"/>
          </a:p>
        </p:txBody>
      </p:sp>
      <p:sp>
        <p:nvSpPr>
          <p:cNvPr id="8" name="col sub 0"/>
          <p:cNvSpPr txBox="1"/>
          <p:nvPr/>
        </p:nvSpPr>
        <p:spPr>
          <a:xfrm>
            <a:off x="68580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7A8C"/>
                </a:solidFill>
              </a:rPr>
              <a:t>Одна задача, один пользователь</a:t>
            </a:r>
            <a:endParaRPr lang="en-US" sz="1100" dirty="0"/>
          </a:p>
        </p:txBody>
      </p:sp>
      <p:sp>
        <p:nvSpPr>
          <p:cNvPr id="9" name="col pts 0"/>
          <p:cNvSpPr txBox="1"/>
          <p:nvPr/>
        </p:nvSpPr>
        <p:spPr>
          <a:xfrm>
            <a:off x="685800" y="299008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Решает конкретную задачу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Работает автономно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Ценность создаёт разработчик</a:t>
            </a:r>
            <a:endParaRPr lang="en-US" sz="1200" dirty="0"/>
          </a:p>
        </p:txBody>
      </p:sp>
      <p:sp>
        <p:nvSpPr>
          <p:cNvPr id="10" name="col ex 0"/>
          <p:cNvSpPr txBox="1"/>
          <p:nvPr/>
        </p:nvSpPr>
        <p:spPr>
          <a:xfrm>
            <a:off x="68580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C7A89"/>
                </a:solidFill>
              </a:rPr>
              <a:t>Пример: </a:t>
            </a:r>
            <a:r>
              <a:rPr lang="en-US" sz="1100" dirty="0">
                <a:solidFill>
                  <a:srgbClr val="6C7A89"/>
                </a:solidFill>
              </a:rPr>
              <a:t>Текстовый редактор, антивирус</a:t>
            </a:r>
            <a:endParaRPr lang="en-US" sz="1100" dirty="0"/>
          </a:p>
        </p:txBody>
      </p:sp>
      <p:sp>
        <p:nvSpPr>
          <p:cNvPr id="11" name="arrow 0"/>
          <p:cNvSpPr/>
          <p:nvPr/>
        </p:nvSpPr>
        <p:spPr>
          <a:xfrm>
            <a:off x="3063240" y="2743200"/>
            <a:ext cx="182880" cy="365760"/>
          </a:xfrm>
          <a:prstGeom prst="chevron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col 1 card"/>
          <p:cNvSpPr/>
          <p:nvPr/>
        </p:nvSpPr>
        <p:spPr>
          <a:xfrm>
            <a:off x="3291840" y="123444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col icon 1 circle"/>
          <p:cNvSpPr/>
          <p:nvPr/>
        </p:nvSpPr>
        <p:spPr>
          <a:xfrm>
            <a:off x="3520440" y="146304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4" name="col icon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114" y="1594714"/>
            <a:ext cx="285293" cy="285293"/>
          </a:xfrm>
          <a:prstGeom prst="rect">
            <a:avLst/>
          </a:prstGeom>
        </p:spPr>
      </p:pic>
      <p:sp>
        <p:nvSpPr>
          <p:cNvPr id="15" name="col name 1"/>
          <p:cNvSpPr txBox="1"/>
          <p:nvPr/>
        </p:nvSpPr>
        <p:spPr>
          <a:xfrm>
            <a:off x="35204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</a:rPr>
              <a:t>Информационная система</a:t>
            </a:r>
            <a:endParaRPr lang="en-US" sz="1600" dirty="0"/>
          </a:p>
        </p:txBody>
      </p:sp>
      <p:sp>
        <p:nvSpPr>
          <p:cNvPr id="16" name="col sub 1"/>
          <p:cNvSpPr txBox="1"/>
          <p:nvPr/>
        </p:nvSpPr>
        <p:spPr>
          <a:xfrm>
            <a:off x="352044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7A8C"/>
                </a:solidFill>
              </a:rPr>
              <a:t>Процессы одной организации</a:t>
            </a:r>
            <a:endParaRPr lang="en-US" sz="1100" dirty="0"/>
          </a:p>
        </p:txBody>
      </p:sp>
      <p:sp>
        <p:nvSpPr>
          <p:cNvPr id="17" name="col pts 1"/>
          <p:cNvSpPr txBox="1"/>
          <p:nvPr/>
        </p:nvSpPr>
        <p:spPr>
          <a:xfrm>
            <a:off x="3520440" y="299008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Несколько программ и база данных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Автоматизирует процессы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4"/>
                </a:solidFill>
              </a:rPr>
              <a:t>Границы — одна организация</a:t>
            </a:r>
            <a:endParaRPr lang="en-US" sz="1200" dirty="0"/>
          </a:p>
        </p:txBody>
      </p:sp>
      <p:sp>
        <p:nvSpPr>
          <p:cNvPr id="18" name="col ex 1"/>
          <p:cNvSpPr txBox="1"/>
          <p:nvPr/>
        </p:nvSpPr>
        <p:spPr>
          <a:xfrm>
            <a:off x="352044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C7A89"/>
                </a:solidFill>
              </a:rPr>
              <a:t>Пример: </a:t>
            </a:r>
            <a:r>
              <a:rPr lang="en-US" sz="1100" dirty="0">
                <a:solidFill>
                  <a:srgbClr val="6C7A89"/>
                </a:solidFill>
              </a:rPr>
              <a:t>Бухгалтерия, документооборот, ГИСОГД</a:t>
            </a:r>
            <a:endParaRPr lang="en-US" sz="1100" dirty="0"/>
          </a:p>
        </p:txBody>
      </p:sp>
      <p:sp>
        <p:nvSpPr>
          <p:cNvPr id="19" name="arrow 1"/>
          <p:cNvSpPr/>
          <p:nvPr/>
        </p:nvSpPr>
        <p:spPr>
          <a:xfrm>
            <a:off x="5897880" y="2743200"/>
            <a:ext cx="182880" cy="365760"/>
          </a:xfrm>
          <a:prstGeom prst="chevron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col 2 card"/>
          <p:cNvSpPr/>
          <p:nvPr/>
        </p:nvSpPr>
        <p:spPr>
          <a:xfrm>
            <a:off x="6126480" y="123444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21" name="col icon 2 circle"/>
          <p:cNvSpPr/>
          <p:nvPr/>
        </p:nvSpPr>
        <p:spPr>
          <a:xfrm>
            <a:off x="6355080" y="146304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2" name="col icon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754" y="1594714"/>
            <a:ext cx="285293" cy="285293"/>
          </a:xfrm>
          <a:prstGeom prst="rect">
            <a:avLst/>
          </a:prstGeom>
        </p:spPr>
      </p:pic>
      <p:sp>
        <p:nvSpPr>
          <p:cNvPr id="23" name="col name 2"/>
          <p:cNvSpPr txBox="1"/>
          <p:nvPr/>
        </p:nvSpPr>
        <p:spPr>
          <a:xfrm>
            <a:off x="63550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Платформа</a:t>
            </a:r>
            <a:endParaRPr lang="en-US" sz="1600" dirty="0"/>
          </a:p>
        </p:txBody>
      </p:sp>
      <p:sp>
        <p:nvSpPr>
          <p:cNvPr id="24" name="col sub 2"/>
          <p:cNvSpPr txBox="1"/>
          <p:nvPr/>
        </p:nvSpPr>
        <p:spPr>
          <a:xfrm>
            <a:off x="635508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CE8"/>
                </a:solidFill>
              </a:rPr>
              <a:t>Сообщество участников</a:t>
            </a:r>
            <a:endParaRPr lang="en-US" sz="1100" dirty="0"/>
          </a:p>
        </p:txBody>
      </p:sp>
      <p:sp>
        <p:nvSpPr>
          <p:cNvPr id="25" name="col pts 2"/>
          <p:cNvSpPr txBox="1"/>
          <p:nvPr/>
        </p:nvSpPr>
        <p:spPr>
          <a:xfrm>
            <a:off x="6355080" y="299008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Единое ядро и открытые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Сервисы создают внешние участники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Ценность растёт с числом участников</a:t>
            </a:r>
            <a:endParaRPr lang="en-US" sz="1200" dirty="0"/>
          </a:p>
        </p:txBody>
      </p:sp>
      <p:sp>
        <p:nvSpPr>
          <p:cNvPr id="26" name="col ex 2"/>
          <p:cNvSpPr txBox="1"/>
          <p:nvPr/>
        </p:nvSpPr>
        <p:spPr>
          <a:xfrm>
            <a:off x="6355080" y="415065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DCE8"/>
                </a:solidFill>
              </a:rPr>
              <a:t>Пример: </a:t>
            </a:r>
            <a:r>
              <a:rPr lang="en-US" sz="1100" dirty="0">
                <a:solidFill>
                  <a:srgbClr val="C9DCE8"/>
                </a:solidFill>
              </a:rPr>
              <a:t>Госуслуги, 1С:Предприятие, Ozon</a:t>
            </a:r>
            <a:endParaRPr lang="en-US" sz="11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Разновидности платформ</a:t>
            </a:r>
            <a:endParaRPr lang="en-US" sz="2800" dirty="0"/>
          </a:p>
        </p:txBody>
      </p:sp>
      <p:sp>
        <p:nvSpPr>
          <p:cNvPr id="4" name="kind 0 card"/>
          <p:cNvSpPr/>
          <p:nvPr/>
        </p:nvSpPr>
        <p:spPr>
          <a:xfrm>
            <a:off x="45720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kind icon 0 circ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6" name="kind icon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237744" cy="237744"/>
          </a:xfrm>
          <a:prstGeom prst="rect">
            <a:avLst/>
          </a:prstGeom>
        </p:spPr>
      </p:pic>
      <p:sp>
        <p:nvSpPr>
          <p:cNvPr id="7" name="kind name 0"/>
          <p:cNvSpPr txBox="1"/>
          <p:nvPr/>
        </p:nvSpPr>
        <p:spPr>
          <a:xfrm>
            <a:off x="123444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Технологические</a:t>
            </a:r>
            <a:endParaRPr lang="en-US" sz="1300" dirty="0"/>
          </a:p>
        </p:txBody>
      </p:sp>
      <p:sp>
        <p:nvSpPr>
          <p:cNvPr id="8" name="kind desc 0"/>
          <p:cNvSpPr txBox="1"/>
          <p:nvPr/>
        </p:nvSpPr>
        <p:spPr>
          <a:xfrm>
            <a:off x="6400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Основа, на которой строят другие продукты</a:t>
            </a:r>
            <a:endParaRPr lang="en-US" sz="1100" dirty="0"/>
          </a:p>
        </p:txBody>
      </p:sp>
      <p:sp>
        <p:nvSpPr>
          <p:cNvPr id="9" name="kind ex 0"/>
          <p:cNvSpPr txBox="1"/>
          <p:nvPr/>
        </p:nvSpPr>
        <p:spPr>
          <a:xfrm>
            <a:off x="64008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ОС, облака, 1С:Предприятие</a:t>
            </a:r>
            <a:endParaRPr lang="en-US" sz="1000" dirty="0"/>
          </a:p>
        </p:txBody>
      </p:sp>
      <p:sp>
        <p:nvSpPr>
          <p:cNvPr id="10" name="kind 1 card"/>
          <p:cNvSpPr/>
          <p:nvPr/>
        </p:nvSpPr>
        <p:spPr>
          <a:xfrm>
            <a:off x="329184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kind icon 1 circle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2" name="kind icon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527048"/>
            <a:ext cx="237744" cy="237744"/>
          </a:xfrm>
          <a:prstGeom prst="rect">
            <a:avLst/>
          </a:prstGeom>
        </p:spPr>
      </p:pic>
      <p:sp>
        <p:nvSpPr>
          <p:cNvPr id="13" name="kind name 1"/>
          <p:cNvSpPr txBox="1"/>
          <p:nvPr/>
        </p:nvSpPr>
        <p:spPr>
          <a:xfrm>
            <a:off x="406908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Транзакционные</a:t>
            </a:r>
            <a:endParaRPr lang="en-US" sz="1300" dirty="0"/>
          </a:p>
        </p:txBody>
      </p:sp>
      <p:sp>
        <p:nvSpPr>
          <p:cNvPr id="14" name="kind desc 1"/>
          <p:cNvSpPr txBox="1"/>
          <p:nvPr/>
        </p:nvSpPr>
        <p:spPr>
          <a:xfrm>
            <a:off x="347472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Сводят спрос и предложение, берут комиссию</a:t>
            </a:r>
            <a:endParaRPr lang="en-US" sz="1100" dirty="0"/>
          </a:p>
        </p:txBody>
      </p:sp>
      <p:sp>
        <p:nvSpPr>
          <p:cNvPr id="15" name="kind ex 1"/>
          <p:cNvSpPr txBox="1"/>
          <p:nvPr/>
        </p:nvSpPr>
        <p:spPr>
          <a:xfrm>
            <a:off x="347472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Ozon, Wildberries, Авито</a:t>
            </a:r>
            <a:endParaRPr lang="en-US" sz="1000" dirty="0"/>
          </a:p>
        </p:txBody>
      </p:sp>
      <p:sp>
        <p:nvSpPr>
          <p:cNvPr id="16" name="kind 2 card"/>
          <p:cNvSpPr/>
          <p:nvPr/>
        </p:nvSpPr>
        <p:spPr>
          <a:xfrm>
            <a:off x="612648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kind icon 2 circle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8" name="kind icon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527048"/>
            <a:ext cx="237744" cy="237744"/>
          </a:xfrm>
          <a:prstGeom prst="rect">
            <a:avLst/>
          </a:prstGeom>
        </p:spPr>
      </p:pic>
      <p:sp>
        <p:nvSpPr>
          <p:cNvPr id="19" name="kind name 2"/>
          <p:cNvSpPr txBox="1"/>
          <p:nvPr/>
        </p:nvSpPr>
        <p:spPr>
          <a:xfrm>
            <a:off x="690372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Экосистемы</a:t>
            </a:r>
            <a:endParaRPr lang="en-US" sz="1300" dirty="0"/>
          </a:p>
        </p:txBody>
      </p:sp>
      <p:sp>
        <p:nvSpPr>
          <p:cNvPr id="20" name="kind desc 2"/>
          <p:cNvSpPr txBox="1"/>
          <p:nvPr/>
        </p:nvSpPr>
        <p:spPr>
          <a:xfrm>
            <a:off x="63093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Много сервисов вокруг одного аккаунта и подписки</a:t>
            </a:r>
            <a:endParaRPr lang="en-US" sz="1100" dirty="0"/>
          </a:p>
        </p:txBody>
      </p:sp>
      <p:sp>
        <p:nvSpPr>
          <p:cNvPr id="21" name="kind ex 2"/>
          <p:cNvSpPr txBox="1"/>
          <p:nvPr/>
        </p:nvSpPr>
        <p:spPr>
          <a:xfrm>
            <a:off x="630936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Сбер, Яндекс, VK</a:t>
            </a:r>
            <a:endParaRPr lang="en-US" sz="1000" dirty="0"/>
          </a:p>
        </p:txBody>
      </p:sp>
      <p:sp>
        <p:nvSpPr>
          <p:cNvPr id="22" name="kind 3 card"/>
          <p:cNvSpPr/>
          <p:nvPr/>
        </p:nvSpPr>
        <p:spPr>
          <a:xfrm>
            <a:off x="45720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kind icon 3 circle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4" name="kind icon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310128"/>
            <a:ext cx="237744" cy="237744"/>
          </a:xfrm>
          <a:prstGeom prst="rect">
            <a:avLst/>
          </a:prstGeom>
        </p:spPr>
      </p:pic>
      <p:sp>
        <p:nvSpPr>
          <p:cNvPr id="25" name="kind name 3"/>
          <p:cNvSpPr txBox="1"/>
          <p:nvPr/>
        </p:nvSpPr>
        <p:spPr>
          <a:xfrm>
            <a:off x="123444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Данных и ИИ</a:t>
            </a:r>
            <a:endParaRPr lang="en-US" sz="1300" dirty="0"/>
          </a:p>
        </p:txBody>
      </p:sp>
      <p:sp>
        <p:nvSpPr>
          <p:cNvPr id="26" name="kind desc 3"/>
          <p:cNvSpPr txBox="1"/>
          <p:nvPr/>
        </p:nvSpPr>
        <p:spPr>
          <a:xfrm>
            <a:off x="64008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Доступ к моделям, данным и инструментам их обучения</a:t>
            </a:r>
            <a:endParaRPr lang="en-US" sz="1100" dirty="0"/>
          </a:p>
        </p:txBody>
      </p:sp>
      <p:sp>
        <p:nvSpPr>
          <p:cNvPr id="27" name="kind ex 3"/>
          <p:cNvSpPr txBox="1"/>
          <p:nvPr/>
        </p:nvSpPr>
        <p:spPr>
          <a:xfrm>
            <a:off x="64008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GigaChat, Yandex Cloud AI Studio</a:t>
            </a:r>
            <a:endParaRPr lang="en-US" sz="1000" dirty="0"/>
          </a:p>
        </p:txBody>
      </p:sp>
      <p:sp>
        <p:nvSpPr>
          <p:cNvPr id="28" name="kind 4 card"/>
          <p:cNvSpPr/>
          <p:nvPr/>
        </p:nvSpPr>
        <p:spPr>
          <a:xfrm>
            <a:off x="329184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kind icon 4 circle"/>
          <p:cNvSpPr/>
          <p:nvPr/>
        </p:nvSpPr>
        <p:spPr>
          <a:xfrm>
            <a:off x="3474720" y="320040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0" name="kind icon 4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310128"/>
            <a:ext cx="237744" cy="237744"/>
          </a:xfrm>
          <a:prstGeom prst="rect">
            <a:avLst/>
          </a:prstGeom>
        </p:spPr>
      </p:pic>
      <p:sp>
        <p:nvSpPr>
          <p:cNvPr id="31" name="kind name 4"/>
          <p:cNvSpPr txBox="1"/>
          <p:nvPr/>
        </p:nvSpPr>
        <p:spPr>
          <a:xfrm>
            <a:off x="406908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Отраслевые и государственные</a:t>
            </a:r>
            <a:endParaRPr lang="en-US" sz="1300" dirty="0"/>
          </a:p>
        </p:txBody>
      </p:sp>
      <p:sp>
        <p:nvSpPr>
          <p:cNvPr id="32" name="kind desc 4"/>
          <p:cNvSpPr txBox="1"/>
          <p:nvPr/>
        </p:nvSpPr>
        <p:spPr>
          <a:xfrm>
            <a:off x="347472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Обслуживают одну сферу или государство в целом</a:t>
            </a:r>
            <a:endParaRPr lang="en-US" sz="1100" dirty="0"/>
          </a:p>
        </p:txBody>
      </p:sp>
      <p:sp>
        <p:nvSpPr>
          <p:cNvPr id="33" name="kind ex 4"/>
          <p:cNvSpPr txBox="1"/>
          <p:nvPr/>
        </p:nvSpPr>
        <p:spPr>
          <a:xfrm>
            <a:off x="347472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Госуслуги, ЕГИСЗ, ГИСОГД</a:t>
            </a:r>
            <a:endParaRPr lang="en-US" sz="1000" dirty="0"/>
          </a:p>
        </p:txBody>
      </p:sp>
      <p:sp>
        <p:nvSpPr>
          <p:cNvPr id="34" name="kind 5 card"/>
          <p:cNvSpPr/>
          <p:nvPr/>
        </p:nvSpPr>
        <p:spPr>
          <a:xfrm>
            <a:off x="612648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kind icon 5 circle"/>
          <p:cNvSpPr/>
          <p:nvPr/>
        </p:nvSpPr>
        <p:spPr>
          <a:xfrm>
            <a:off x="6309360" y="320040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6" name="kind icon 5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310128"/>
            <a:ext cx="237744" cy="237744"/>
          </a:xfrm>
          <a:prstGeom prst="rect">
            <a:avLst/>
          </a:prstGeom>
        </p:spPr>
      </p:pic>
      <p:sp>
        <p:nvSpPr>
          <p:cNvPr id="37" name="kind name 5"/>
          <p:cNvSpPr txBox="1"/>
          <p:nvPr/>
        </p:nvSpPr>
        <p:spPr>
          <a:xfrm>
            <a:off x="690372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Low-code / no-code</a:t>
            </a:r>
            <a:endParaRPr lang="en-US" sz="1300" dirty="0"/>
          </a:p>
        </p:txBody>
      </p:sp>
      <p:sp>
        <p:nvSpPr>
          <p:cNvPr id="38" name="kind desc 5"/>
          <p:cNvSpPr txBox="1"/>
          <p:nvPr/>
        </p:nvSpPr>
        <p:spPr>
          <a:xfrm>
            <a:off x="630936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Сборка приложений без программирования</a:t>
            </a:r>
            <a:endParaRPr lang="en-US" sz="1100" dirty="0"/>
          </a:p>
        </p:txBody>
      </p:sp>
      <p:sp>
        <p:nvSpPr>
          <p:cNvPr id="39" name="kind ex 5"/>
          <p:cNvSpPr txBox="1"/>
          <p:nvPr/>
        </p:nvSpPr>
        <p:spPr>
          <a:xfrm>
            <a:off x="630936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Платформа госсервисов, Битрикс24</a:t>
            </a:r>
            <a:endParaRPr lang="en-US" sz="10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Как устроена платформа</a:t>
            </a:r>
            <a:endParaRPr lang="en-US" sz="2800" dirty="0"/>
          </a:p>
        </p:txBody>
      </p:sp>
      <p:sp>
        <p:nvSpPr>
          <p:cNvPr id="4" name="layer 0"/>
          <p:cNvSpPr/>
          <p:nvPr/>
        </p:nvSpPr>
        <p:spPr>
          <a:xfrm>
            <a:off x="457200" y="1234440"/>
            <a:ext cx="4572000" cy="585216"/>
          </a:xfrm>
          <a:prstGeom prst="roundRect">
            <a:avLst>
              <a:gd name="adj" fmla="val 125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5" name="layer name 0"/>
          <p:cNvSpPr txBox="1"/>
          <p:nvPr/>
        </p:nvSpPr>
        <p:spPr>
          <a:xfrm>
            <a:off x="685800" y="123444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Участники</a:t>
            </a:r>
            <a:endParaRPr lang="en-US" sz="1500" dirty="0"/>
          </a:p>
        </p:txBody>
      </p:sp>
      <p:sp>
        <p:nvSpPr>
          <p:cNvPr id="6" name="layer desc 0"/>
          <p:cNvSpPr txBox="1"/>
          <p:nvPr/>
        </p:nvSpPr>
        <p:spPr>
          <a:xfrm>
            <a:off x="5349240" y="123444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Граждане, бизнес, ведомства, разработчики</a:t>
            </a:r>
            <a:endParaRPr lang="en-US" sz="1200" dirty="0"/>
          </a:p>
        </p:txBody>
      </p:sp>
      <p:sp>
        <p:nvSpPr>
          <p:cNvPr id="7" name="layer 1"/>
          <p:cNvSpPr/>
          <p:nvPr/>
        </p:nvSpPr>
        <p:spPr>
          <a:xfrm>
            <a:off x="457200" y="1911096"/>
            <a:ext cx="4572000" cy="585216"/>
          </a:xfrm>
          <a:prstGeom prst="roundRect">
            <a:avLst>
              <a:gd name="adj" fmla="val 12500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layer name 1"/>
          <p:cNvSpPr txBox="1"/>
          <p:nvPr/>
        </p:nvSpPr>
        <p:spPr>
          <a:xfrm>
            <a:off x="685800" y="191109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Сервисы и приложения</a:t>
            </a:r>
            <a:endParaRPr lang="en-US" sz="1500" dirty="0"/>
          </a:p>
        </p:txBody>
      </p:sp>
      <p:sp>
        <p:nvSpPr>
          <p:cNvPr id="9" name="layer desc 1"/>
          <p:cNvSpPr txBox="1"/>
          <p:nvPr/>
        </p:nvSpPr>
        <p:spPr>
          <a:xfrm>
            <a:off x="5349240" y="1911096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Создают и владелец, и внешние разработчики</a:t>
            </a:r>
            <a:endParaRPr lang="en-US" sz="1200" dirty="0"/>
          </a:p>
        </p:txBody>
      </p:sp>
      <p:sp>
        <p:nvSpPr>
          <p:cNvPr id="10" name="layer 2"/>
          <p:cNvSpPr/>
          <p:nvPr/>
        </p:nvSpPr>
        <p:spPr>
          <a:xfrm>
            <a:off x="457200" y="2587752"/>
            <a:ext cx="4572000" cy="585216"/>
          </a:xfrm>
          <a:prstGeom prst="roundRect">
            <a:avLst>
              <a:gd name="adj" fmla="val 12500"/>
            </a:avLst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11" name="layer name 2"/>
          <p:cNvSpPr txBox="1"/>
          <p:nvPr/>
        </p:nvSpPr>
        <p:spPr>
          <a:xfrm>
            <a:off x="685800" y="258775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API и интеграция</a:t>
            </a:r>
            <a:endParaRPr lang="en-US" sz="1500" dirty="0"/>
          </a:p>
        </p:txBody>
      </p:sp>
      <p:sp>
        <p:nvSpPr>
          <p:cNvPr id="12" name="layer desc 2"/>
          <p:cNvSpPr txBox="1"/>
          <p:nvPr/>
        </p:nvSpPr>
        <p:spPr>
          <a:xfrm>
            <a:off x="5349240" y="258775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Единые интерфейсы подключения сервисов к ядру</a:t>
            </a:r>
            <a:endParaRPr lang="en-US" sz="1200" dirty="0"/>
          </a:p>
        </p:txBody>
      </p:sp>
      <p:sp>
        <p:nvSpPr>
          <p:cNvPr id="13" name="layer 3"/>
          <p:cNvSpPr/>
          <p:nvPr/>
        </p:nvSpPr>
        <p:spPr>
          <a:xfrm>
            <a:off x="457200" y="3264408"/>
            <a:ext cx="4572000" cy="585216"/>
          </a:xfrm>
          <a:prstGeom prst="roundRect">
            <a:avLst>
              <a:gd name="adj" fmla="val 12500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4" name="layer name 3"/>
          <p:cNvSpPr txBox="1"/>
          <p:nvPr/>
        </p:nvSpPr>
        <p:spPr>
          <a:xfrm>
            <a:off x="685800" y="326440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Ядро платформы</a:t>
            </a:r>
            <a:endParaRPr lang="en-US" sz="1500" dirty="0"/>
          </a:p>
        </p:txBody>
      </p:sp>
      <p:sp>
        <p:nvSpPr>
          <p:cNvPr id="15" name="layer desc 3"/>
          <p:cNvSpPr txBox="1"/>
          <p:nvPr/>
        </p:nvSpPr>
        <p:spPr>
          <a:xfrm>
            <a:off x="5349240" y="3264408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Данные, идентификация, платежи, уведомления, журналы</a:t>
            </a:r>
            <a:endParaRPr lang="en-US" sz="1200" dirty="0"/>
          </a:p>
        </p:txBody>
      </p:sp>
      <p:sp>
        <p:nvSpPr>
          <p:cNvPr id="16" name="layer 4"/>
          <p:cNvSpPr/>
          <p:nvPr/>
        </p:nvSpPr>
        <p:spPr>
          <a:xfrm>
            <a:off x="457200" y="3941064"/>
            <a:ext cx="4572000" cy="585216"/>
          </a:xfrm>
          <a:prstGeom prst="roundRect">
            <a:avLst>
              <a:gd name="adj" fmla="val 12500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17" name="layer name 4"/>
          <p:cNvSpPr txBox="1"/>
          <p:nvPr/>
        </p:nvSpPr>
        <p:spPr>
          <a:xfrm>
            <a:off x="685800" y="394106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Инфраструктура</a:t>
            </a:r>
            <a:endParaRPr lang="en-US" sz="1500" dirty="0"/>
          </a:p>
        </p:txBody>
      </p:sp>
      <p:sp>
        <p:nvSpPr>
          <p:cNvPr id="18" name="layer desc 4"/>
          <p:cNvSpPr txBox="1"/>
          <p:nvPr/>
        </p:nvSpPr>
        <p:spPr>
          <a:xfrm>
            <a:off x="5349240" y="3941064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Серверы, облако, сети, безопасность</a:t>
            </a:r>
            <a:endParaRPr lang="en-US" sz="1200" dirty="0"/>
          </a:p>
        </p:txBody>
      </p:sp>
      <p:sp>
        <p:nvSpPr>
          <p:cNvPr id="19" name="divider"/>
          <p:cNvSpPr/>
          <p:nvPr/>
        </p:nvSpPr>
        <p:spPr>
          <a:xfrm>
            <a:off x="5166360" y="1280160"/>
            <a:ext cx="0" cy="3246120"/>
          </a:xfrm>
          <a:prstGeom prst="line">
            <a:avLst/>
          </a:prstGeom>
          <a:noFill/>
          <a:ln w="12700">
            <a:solidFill>
              <a:srgbClr val="C9DC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Отрасли применения платформ</a:t>
            </a:r>
            <a:endParaRPr lang="en-US" sz="2800" dirty="0"/>
          </a:p>
        </p:txBody>
      </p:sp>
      <p:sp>
        <p:nvSpPr>
          <p:cNvPr id="4" name="ind 0 circle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5" name="ind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1366114"/>
            <a:ext cx="285293" cy="285293"/>
          </a:xfrm>
          <a:prstGeom prst="rect">
            <a:avLst/>
          </a:prstGeom>
        </p:spPr>
      </p:pic>
      <p:sp>
        <p:nvSpPr>
          <p:cNvPr id="6" name="ind name 0"/>
          <p:cNvSpPr txBox="1"/>
          <p:nvPr/>
        </p:nvSpPr>
        <p:spPr>
          <a:xfrm>
            <a:off x="118872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Государственное управление</a:t>
            </a:r>
            <a:endParaRPr lang="en-US" sz="1400" dirty="0"/>
          </a:p>
        </p:txBody>
      </p:sp>
      <p:sp>
        <p:nvSpPr>
          <p:cNvPr id="7" name="ind desc 0"/>
          <p:cNvSpPr txBox="1"/>
          <p:nvPr/>
        </p:nvSpPr>
        <p:spPr>
          <a:xfrm>
            <a:off x="118872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Госуслуги, МФЦ, </a:t>
            </a:r>
            <a:r>
              <a:rPr lang="en-US" sz="1100" dirty="0" err="1">
                <a:solidFill>
                  <a:schemeClr val="accent4"/>
                </a:solidFill>
              </a:rPr>
              <a:t>региональные</a:t>
            </a:r>
            <a:r>
              <a:rPr lang="en-US" sz="1100" dirty="0">
                <a:solidFill>
                  <a:schemeClr val="accent4"/>
                </a:solidFill>
              </a:rPr>
              <a:t> </a:t>
            </a:r>
            <a:r>
              <a:rPr lang="en-US" sz="1100" dirty="0" err="1" smtClean="0">
                <a:solidFill>
                  <a:schemeClr val="accent4"/>
                </a:solidFill>
              </a:rPr>
              <a:t>порталы</a:t>
            </a:r>
            <a:endParaRPr lang="en-US" sz="1100" dirty="0"/>
          </a:p>
        </p:txBody>
      </p:sp>
      <p:sp>
        <p:nvSpPr>
          <p:cNvPr id="8" name="ind 1 circle"/>
          <p:cNvSpPr/>
          <p:nvPr/>
        </p:nvSpPr>
        <p:spPr>
          <a:xfrm>
            <a:off x="4663440" y="1234440"/>
            <a:ext cx="548640" cy="54864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9" name="ind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14" y="1366114"/>
            <a:ext cx="285293" cy="285293"/>
          </a:xfrm>
          <a:prstGeom prst="rect">
            <a:avLst/>
          </a:prstGeom>
        </p:spPr>
      </p:pic>
      <p:sp>
        <p:nvSpPr>
          <p:cNvPr id="10" name="ind name 1"/>
          <p:cNvSpPr txBox="1"/>
          <p:nvPr/>
        </p:nvSpPr>
        <p:spPr>
          <a:xfrm>
            <a:off x="539496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Финансы</a:t>
            </a:r>
            <a:endParaRPr lang="en-US" sz="1400" dirty="0"/>
          </a:p>
        </p:txBody>
      </p:sp>
      <p:sp>
        <p:nvSpPr>
          <p:cNvPr id="11" name="ind desc 1"/>
          <p:cNvSpPr txBox="1"/>
          <p:nvPr/>
        </p:nvSpPr>
        <p:spPr>
          <a:xfrm>
            <a:off x="539496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Экосистемы банков, СБП, маркетплейсы финпродуктов</a:t>
            </a:r>
            <a:endParaRPr lang="en-US" sz="1100" dirty="0"/>
          </a:p>
        </p:txBody>
      </p:sp>
      <p:sp>
        <p:nvSpPr>
          <p:cNvPr id="12" name="ind 2 circle"/>
          <p:cNvSpPr/>
          <p:nvPr/>
        </p:nvSpPr>
        <p:spPr>
          <a:xfrm>
            <a:off x="457200" y="208483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3" name="ind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4" y="2216506"/>
            <a:ext cx="285293" cy="285293"/>
          </a:xfrm>
          <a:prstGeom prst="rect">
            <a:avLst/>
          </a:prstGeom>
        </p:spPr>
      </p:pic>
      <p:sp>
        <p:nvSpPr>
          <p:cNvPr id="14" name="ind name 2"/>
          <p:cNvSpPr txBox="1"/>
          <p:nvPr/>
        </p:nvSpPr>
        <p:spPr>
          <a:xfrm>
            <a:off x="11887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Торговля</a:t>
            </a:r>
            <a:endParaRPr lang="en-US" sz="1400" dirty="0"/>
          </a:p>
        </p:txBody>
      </p:sp>
      <p:sp>
        <p:nvSpPr>
          <p:cNvPr id="15" name="ind desc 2"/>
          <p:cNvSpPr txBox="1"/>
          <p:nvPr/>
        </p:nvSpPr>
        <p:spPr>
          <a:xfrm>
            <a:off x="1188720" y="23408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Маркетплейсы — заметная доля всей розницы</a:t>
            </a:r>
            <a:endParaRPr lang="en-US" sz="1100" dirty="0"/>
          </a:p>
        </p:txBody>
      </p:sp>
      <p:sp>
        <p:nvSpPr>
          <p:cNvPr id="16" name="ind 3 circle"/>
          <p:cNvSpPr/>
          <p:nvPr/>
        </p:nvSpPr>
        <p:spPr>
          <a:xfrm>
            <a:off x="4663440" y="2084832"/>
            <a:ext cx="548640" cy="54864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17" name="ind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114" y="2216506"/>
            <a:ext cx="285293" cy="285293"/>
          </a:xfrm>
          <a:prstGeom prst="rect">
            <a:avLst/>
          </a:prstGeom>
        </p:spPr>
      </p:pic>
      <p:sp>
        <p:nvSpPr>
          <p:cNvPr id="18" name="ind name 3"/>
          <p:cNvSpPr txBox="1"/>
          <p:nvPr/>
        </p:nvSpPr>
        <p:spPr>
          <a:xfrm>
            <a:off x="539496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Образование</a:t>
            </a:r>
            <a:endParaRPr lang="en-US" sz="1400" dirty="0"/>
          </a:p>
        </p:txBody>
      </p:sp>
      <p:sp>
        <p:nvSpPr>
          <p:cNvPr id="19" name="ind desc 3"/>
          <p:cNvSpPr txBox="1"/>
          <p:nvPr/>
        </p:nvSpPr>
        <p:spPr>
          <a:xfrm>
            <a:off x="5394960" y="23408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Онлайн-курсы, цифровые школы, ЕГЭ-тренажёры</a:t>
            </a:r>
            <a:endParaRPr lang="en-US" sz="1100" dirty="0"/>
          </a:p>
        </p:txBody>
      </p:sp>
      <p:sp>
        <p:nvSpPr>
          <p:cNvPr id="20" name="ind 4 circle"/>
          <p:cNvSpPr/>
          <p:nvPr/>
        </p:nvSpPr>
        <p:spPr>
          <a:xfrm>
            <a:off x="457200" y="2935224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1" name="ind 4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74" y="3066898"/>
            <a:ext cx="285293" cy="285293"/>
          </a:xfrm>
          <a:prstGeom prst="rect">
            <a:avLst/>
          </a:prstGeom>
        </p:spPr>
      </p:pic>
      <p:sp>
        <p:nvSpPr>
          <p:cNvPr id="22" name="ind name 4"/>
          <p:cNvSpPr txBox="1"/>
          <p:nvPr/>
        </p:nvSpPr>
        <p:spPr>
          <a:xfrm>
            <a:off x="118872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Промышленность</a:t>
            </a:r>
            <a:endParaRPr lang="en-US" sz="1400" dirty="0"/>
          </a:p>
        </p:txBody>
      </p:sp>
      <p:sp>
        <p:nvSpPr>
          <p:cNvPr id="23" name="ind desc 4"/>
          <p:cNvSpPr txBox="1"/>
          <p:nvPr/>
        </p:nvSpPr>
        <p:spPr>
          <a:xfrm>
            <a:off x="1188720" y="31912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Промышленный интернет вещей, управление производством</a:t>
            </a:r>
            <a:endParaRPr lang="en-US" sz="1100" dirty="0"/>
          </a:p>
        </p:txBody>
      </p:sp>
      <p:sp>
        <p:nvSpPr>
          <p:cNvPr id="24" name="ind 5 circle"/>
          <p:cNvSpPr/>
          <p:nvPr/>
        </p:nvSpPr>
        <p:spPr>
          <a:xfrm>
            <a:off x="4663440" y="2935224"/>
            <a:ext cx="548640" cy="54864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25" name="ind 5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5114" y="3066898"/>
            <a:ext cx="285293" cy="285293"/>
          </a:xfrm>
          <a:prstGeom prst="rect">
            <a:avLst/>
          </a:prstGeom>
        </p:spPr>
      </p:pic>
      <p:sp>
        <p:nvSpPr>
          <p:cNvPr id="26" name="ind name 5"/>
          <p:cNvSpPr txBox="1"/>
          <p:nvPr/>
        </p:nvSpPr>
        <p:spPr>
          <a:xfrm>
            <a:off x="539496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Здравоохранение</a:t>
            </a:r>
            <a:endParaRPr lang="en-US" sz="1400" dirty="0"/>
          </a:p>
        </p:txBody>
      </p:sp>
      <p:sp>
        <p:nvSpPr>
          <p:cNvPr id="27" name="ind desc 5"/>
          <p:cNvSpPr txBox="1"/>
          <p:nvPr/>
        </p:nvSpPr>
        <p:spPr>
          <a:xfrm>
            <a:off x="5394960" y="31912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ЕГИСЗ, телемедицина, электронные рецепты</a:t>
            </a:r>
            <a:endParaRPr lang="en-US" sz="1100" dirty="0"/>
          </a:p>
        </p:txBody>
      </p:sp>
      <p:sp>
        <p:nvSpPr>
          <p:cNvPr id="28" name="ind 6 circle"/>
          <p:cNvSpPr/>
          <p:nvPr/>
        </p:nvSpPr>
        <p:spPr>
          <a:xfrm>
            <a:off x="457200" y="3785616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9" name="ind 6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874" y="3917290"/>
            <a:ext cx="285293" cy="285293"/>
          </a:xfrm>
          <a:prstGeom prst="rect">
            <a:avLst/>
          </a:prstGeom>
        </p:spPr>
      </p:pic>
      <p:sp>
        <p:nvSpPr>
          <p:cNvPr id="30" name="ind name 6"/>
          <p:cNvSpPr txBox="1"/>
          <p:nvPr/>
        </p:nvSpPr>
        <p:spPr>
          <a:xfrm>
            <a:off x="1188720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Транспорт и логистика</a:t>
            </a:r>
            <a:endParaRPr lang="en-US" sz="1400" dirty="0"/>
          </a:p>
        </p:txBody>
      </p:sp>
      <p:sp>
        <p:nvSpPr>
          <p:cNvPr id="31" name="ind desc 6"/>
          <p:cNvSpPr txBox="1"/>
          <p:nvPr/>
        </p:nvSpPr>
        <p:spPr>
          <a:xfrm>
            <a:off x="1188720" y="40416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Агрегаторы такси, доставка, грузовые платформы</a:t>
            </a:r>
            <a:endParaRPr lang="en-US" sz="1100" dirty="0"/>
          </a:p>
        </p:txBody>
      </p:sp>
      <p:sp>
        <p:nvSpPr>
          <p:cNvPr id="32" name="ind 7 circle"/>
          <p:cNvSpPr/>
          <p:nvPr/>
        </p:nvSpPr>
        <p:spPr>
          <a:xfrm>
            <a:off x="4663440" y="3785616"/>
            <a:ext cx="548640" cy="54864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33" name="ind 7 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5114" y="3917290"/>
            <a:ext cx="285293" cy="285293"/>
          </a:xfrm>
          <a:prstGeom prst="rect">
            <a:avLst/>
          </a:prstGeom>
        </p:spPr>
      </p:pic>
      <p:sp>
        <p:nvSpPr>
          <p:cNvPr id="34" name="ind name 7"/>
          <p:cNvSpPr txBox="1"/>
          <p:nvPr/>
        </p:nvSpPr>
        <p:spPr>
          <a:xfrm>
            <a:off x="5394960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Градостроительство и ГИС</a:t>
            </a:r>
            <a:endParaRPr lang="en-US" sz="1400" dirty="0"/>
          </a:p>
        </p:txBody>
      </p:sp>
      <p:sp>
        <p:nvSpPr>
          <p:cNvPr id="35" name="ind desc 7"/>
          <p:cNvSpPr txBox="1"/>
          <p:nvPr/>
        </p:nvSpPr>
        <p:spPr>
          <a:xfrm>
            <a:off x="5394960" y="40416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ГИСОГД, кадастровые и геоинформационные платформы</a:t>
            </a:r>
            <a:endParaRPr lang="en-US" sz="11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Государственные платформы</a:t>
            </a:r>
            <a:endParaRPr lang="en-US" sz="2800" dirty="0"/>
          </a:p>
        </p:txBody>
      </p:sp>
      <p:sp>
        <p:nvSpPr>
          <p:cNvPr id="4" name="gov 0 card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gov icon 0 circl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6" name="gov icon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594714"/>
            <a:ext cx="285293" cy="285293"/>
          </a:xfrm>
          <a:prstGeom prst="rect">
            <a:avLst/>
          </a:prstGeom>
        </p:spPr>
      </p:pic>
      <p:sp>
        <p:nvSpPr>
          <p:cNvPr id="7" name="gov name 0"/>
          <p:cNvSpPr txBox="1"/>
          <p:nvPr/>
        </p:nvSpPr>
        <p:spPr>
          <a:xfrm>
            <a:off x="141732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Госуслуги</a:t>
            </a:r>
            <a:endParaRPr lang="en-US" sz="1600" dirty="0"/>
          </a:p>
        </p:txBody>
      </p:sp>
      <p:sp>
        <p:nvSpPr>
          <p:cNvPr id="8" name="gov sub 0"/>
          <p:cNvSpPr txBox="1"/>
          <p:nvPr/>
        </p:nvSpPr>
        <p:spPr>
          <a:xfrm>
            <a:off x="141732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Единый портал услуг для граждан и бизнеса</a:t>
            </a:r>
            <a:endParaRPr lang="en-US" sz="1100" dirty="0"/>
          </a:p>
        </p:txBody>
      </p:sp>
      <p:sp>
        <p:nvSpPr>
          <p:cNvPr id="9" name="gov desc 0"/>
          <p:cNvSpPr txBox="1"/>
          <p:nvPr/>
        </p:nvSpPr>
        <p:spPr>
          <a:xfrm>
            <a:off x="685800" y="21305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Витрина и ядро: заявления, идентификация, передача в ведомства</a:t>
            </a:r>
            <a:endParaRPr lang="en-US" sz="1200" dirty="0"/>
          </a:p>
        </p:txBody>
      </p:sp>
      <p:sp>
        <p:nvSpPr>
          <p:cNvPr id="10" name="gov 1 card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gov icon 1 circle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2" name="gov icon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714" y="1594714"/>
            <a:ext cx="285293" cy="285293"/>
          </a:xfrm>
          <a:prstGeom prst="rect">
            <a:avLst/>
          </a:prstGeom>
        </p:spPr>
      </p:pic>
      <p:sp>
        <p:nvSpPr>
          <p:cNvPr id="13" name="gov name 1"/>
          <p:cNvSpPr txBox="1"/>
          <p:nvPr/>
        </p:nvSpPr>
        <p:spPr>
          <a:xfrm>
            <a:off x="562356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ГИСОГД</a:t>
            </a:r>
            <a:endParaRPr lang="en-US" sz="1600" dirty="0"/>
          </a:p>
        </p:txBody>
      </p:sp>
      <p:sp>
        <p:nvSpPr>
          <p:cNvPr id="14" name="gov sub 1"/>
          <p:cNvSpPr txBox="1"/>
          <p:nvPr/>
        </p:nvSpPr>
        <p:spPr>
          <a:xfrm>
            <a:off x="562356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Градостроительные данные региона</a:t>
            </a:r>
            <a:endParaRPr lang="en-US" sz="1100" dirty="0"/>
          </a:p>
        </p:txBody>
      </p:sp>
      <p:sp>
        <p:nvSpPr>
          <p:cNvPr id="15" name="gov desc 1"/>
          <p:cNvSpPr txBox="1"/>
          <p:nvPr/>
        </p:nvSpPr>
        <p:spPr>
          <a:xfrm>
            <a:off x="4892040" y="21305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Генпланы, ПЗЗ, ГПЗУ и зоны в одном реестре; ведут регионы и муниципалитеты</a:t>
            </a:r>
            <a:endParaRPr lang="en-US" sz="1200" dirty="0"/>
          </a:p>
        </p:txBody>
      </p:sp>
      <p:sp>
        <p:nvSpPr>
          <p:cNvPr id="16" name="gov 2 card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gov icon 2 circle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8" name="gov icon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4" y="3332074"/>
            <a:ext cx="285293" cy="285293"/>
          </a:xfrm>
          <a:prstGeom prst="rect">
            <a:avLst/>
          </a:prstGeom>
        </p:spPr>
      </p:pic>
      <p:sp>
        <p:nvSpPr>
          <p:cNvPr id="19" name="gov name 2"/>
          <p:cNvSpPr txBox="1"/>
          <p:nvPr/>
        </p:nvSpPr>
        <p:spPr>
          <a:xfrm>
            <a:off x="141732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ЕСИА и Цифровой профиль</a:t>
            </a:r>
            <a:endParaRPr lang="en-US" sz="1600" dirty="0"/>
          </a:p>
        </p:txBody>
      </p:sp>
      <p:sp>
        <p:nvSpPr>
          <p:cNvPr id="20" name="gov sub 2"/>
          <p:cNvSpPr txBox="1"/>
          <p:nvPr/>
        </p:nvSpPr>
        <p:spPr>
          <a:xfrm>
            <a:off x="141732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Единая идентификация</a:t>
            </a:r>
            <a:endParaRPr lang="en-US" sz="1100" dirty="0"/>
          </a:p>
        </p:txBody>
      </p:sp>
      <p:sp>
        <p:nvSpPr>
          <p:cNvPr id="21" name="gov desc 2"/>
          <p:cNvSpPr txBox="1"/>
          <p:nvPr/>
        </p:nvSpPr>
        <p:spPr>
          <a:xfrm>
            <a:off x="685800" y="38679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Один вход для госсервисов, банков и коммерческих компаний</a:t>
            </a:r>
            <a:endParaRPr lang="en-US" sz="1200" dirty="0"/>
          </a:p>
        </p:txBody>
      </p:sp>
      <p:sp>
        <p:nvSpPr>
          <p:cNvPr id="22" name="gov 3 card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gov icon 3 circle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4" name="gov icon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714" y="3332074"/>
            <a:ext cx="285293" cy="285293"/>
          </a:xfrm>
          <a:prstGeom prst="rect">
            <a:avLst/>
          </a:prstGeom>
        </p:spPr>
      </p:pic>
      <p:sp>
        <p:nvSpPr>
          <p:cNvPr id="25" name="gov name 3"/>
          <p:cNvSpPr txBox="1"/>
          <p:nvPr/>
        </p:nvSpPr>
        <p:spPr>
          <a:xfrm>
            <a:off x="562356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ПОС и Работа России</a:t>
            </a:r>
            <a:endParaRPr lang="en-US" sz="1600" dirty="0"/>
          </a:p>
        </p:txBody>
      </p:sp>
      <p:sp>
        <p:nvSpPr>
          <p:cNvPr id="26" name="gov sub 3"/>
          <p:cNvSpPr txBox="1"/>
          <p:nvPr/>
        </p:nvSpPr>
        <p:spPr>
          <a:xfrm>
            <a:off x="562356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Обратная связь и занятость</a:t>
            </a:r>
            <a:endParaRPr lang="en-US" sz="1100" dirty="0"/>
          </a:p>
        </p:txBody>
      </p:sp>
      <p:sp>
        <p:nvSpPr>
          <p:cNvPr id="27" name="gov desc 3"/>
          <p:cNvSpPr txBox="1"/>
          <p:nvPr/>
        </p:nvSpPr>
        <p:spPr>
          <a:xfrm>
            <a:off x="4892040" y="38679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Единый канал обращений в органы власти; государственная платформа вакансий</a:t>
            </a:r>
            <a:endParaRPr lang="en-US" sz="12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Госуслуги в цифрах</a:t>
            </a:r>
            <a:endParaRPr lang="en-US" sz="2800" dirty="0"/>
          </a:p>
        </p:txBody>
      </p:sp>
      <p:sp>
        <p:nvSpPr>
          <p:cNvPr id="4" name="stat 0"/>
          <p:cNvSpPr txBox="1"/>
          <p:nvPr/>
        </p:nvSpPr>
        <p:spPr>
          <a:xfrm>
            <a:off x="45720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112 млн</a:t>
            </a:r>
            <a:endParaRPr lang="en-US" sz="4000" dirty="0"/>
          </a:p>
        </p:txBody>
      </p:sp>
      <p:sp>
        <p:nvSpPr>
          <p:cNvPr id="5" name="stat label 0"/>
          <p:cNvSpPr txBox="1"/>
          <p:nvPr/>
        </p:nvSpPr>
        <p:spPr>
          <a:xfrm>
            <a:off x="45720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пользователей портала</a:t>
            </a:r>
            <a:endParaRPr lang="en-US" sz="1200" dirty="0"/>
          </a:p>
        </p:txBody>
      </p:sp>
      <p:sp>
        <p:nvSpPr>
          <p:cNvPr id="6" name="stat 1"/>
          <p:cNvSpPr txBox="1"/>
          <p:nvPr/>
        </p:nvSpPr>
        <p:spPr>
          <a:xfrm>
            <a:off x="256032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1,6 тыс.</a:t>
            </a:r>
            <a:endParaRPr lang="en-US" sz="4000" dirty="0"/>
          </a:p>
        </p:txBody>
      </p:sp>
      <p:sp>
        <p:nvSpPr>
          <p:cNvPr id="7" name="stat label 1"/>
          <p:cNvSpPr txBox="1"/>
          <p:nvPr/>
        </p:nvSpPr>
        <p:spPr>
          <a:xfrm>
            <a:off x="256032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доступных услуг</a:t>
            </a:r>
            <a:endParaRPr lang="en-US" sz="1200" dirty="0"/>
          </a:p>
        </p:txBody>
      </p:sp>
      <p:sp>
        <p:nvSpPr>
          <p:cNvPr id="8" name="stat 2"/>
          <p:cNvSpPr txBox="1"/>
          <p:nvPr/>
        </p:nvSpPr>
        <p:spPr>
          <a:xfrm>
            <a:off x="466344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14 млн</a:t>
            </a:r>
            <a:endParaRPr lang="en-US" sz="4000" dirty="0"/>
          </a:p>
        </p:txBody>
      </p:sp>
      <p:sp>
        <p:nvSpPr>
          <p:cNvPr id="9" name="stat label 2"/>
          <p:cNvSpPr txBox="1"/>
          <p:nvPr/>
        </p:nvSpPr>
        <p:spPr>
          <a:xfrm>
            <a:off x="46634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ежедневная аудитория</a:t>
            </a:r>
            <a:endParaRPr lang="en-US" sz="1200" dirty="0"/>
          </a:p>
        </p:txBody>
      </p:sp>
      <p:sp>
        <p:nvSpPr>
          <p:cNvPr id="10" name="stat 3"/>
          <p:cNvSpPr txBox="1"/>
          <p:nvPr/>
        </p:nvSpPr>
        <p:spPr>
          <a:xfrm>
            <a:off x="6766560" y="1234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72 часа</a:t>
            </a:r>
            <a:endParaRPr lang="en-US" sz="4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76656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максимальный срок услуги (было 11 дней)</a:t>
            </a:r>
            <a:endParaRPr lang="en-US" sz="1200" dirty="0"/>
          </a:p>
        </p:txBody>
      </p:sp>
      <p:sp>
        <p:nvSpPr>
          <p:cNvPr id="12" name="gosuslugi note card"/>
          <p:cNvSpPr/>
          <p:nvPr/>
        </p:nvSpPr>
        <p:spPr>
          <a:xfrm>
            <a:off x="457200" y="2880360"/>
            <a:ext cx="8229600" cy="150876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gosuslugi note icon circle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4" name="gosuslugi note ico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3286354"/>
            <a:ext cx="285293" cy="285293"/>
          </a:xfrm>
          <a:prstGeom prst="rect">
            <a:avLst/>
          </a:prstGeom>
        </p:spPr>
      </p:pic>
      <p:sp>
        <p:nvSpPr>
          <p:cNvPr id="15" name="note title"/>
          <p:cNvSpPr txBox="1"/>
          <p:nvPr/>
        </p:nvSpPr>
        <p:spPr>
          <a:xfrm>
            <a:off x="1508760" y="3108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Госуслуги — платформа, а не исполнитель</a:t>
            </a:r>
            <a:endParaRPr lang="en-US" sz="1500" dirty="0"/>
          </a:p>
        </p:txBody>
      </p:sp>
      <p:sp>
        <p:nvSpPr>
          <p:cNvPr id="16" name="note text"/>
          <p:cNvSpPr txBox="1"/>
          <p:nvPr/>
        </p:nvSpPr>
        <p:spPr>
          <a:xfrm>
            <a:off x="1508760" y="345643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Портал принимает заявление, идентифицирует гражданина через ЕСИА, передаёт данные в ведомство и возвращает результат. Сами услуги оказывают ведомства — участники платформы. Ядро одно, сервисов — тысячи.</a:t>
            </a:r>
            <a:endParaRPr lang="en-US" sz="1200" dirty="0"/>
          </a:p>
        </p:txBody>
      </p:sp>
      <p:sp>
        <p:nvSpPr>
          <p:cNvPr id="17" name="source"/>
          <p:cNvSpPr txBox="1"/>
          <p:nvPr/>
        </p:nvSpPr>
        <p:spPr>
          <a:xfrm>
            <a:off x="457200" y="4480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Источник: Минцифры России, 2025–2026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ГИСОГД: платформа или система?</a:t>
            </a:r>
            <a:endParaRPr lang="en-US" sz="2800" dirty="0"/>
          </a:p>
        </p:txBody>
      </p:sp>
      <p:sp>
        <p:nvSpPr>
          <p:cNvPr id="4" name="gisogd def"/>
          <p:cNvSpPr txBox="1"/>
          <p:nvPr/>
        </p:nvSpPr>
        <p:spPr>
          <a:xfrm>
            <a:off x="457200" y="12344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Государственная информационная система обеспечения градостроительной деятельности — единый источник сведений о территории: генпланы, ПЗЗ, документация по планировке, ГПЗУ, зоны с особыми условиями.</a:t>
            </a:r>
            <a:endParaRPr lang="en-US" sz="1300" dirty="0"/>
          </a:p>
        </p:txBody>
      </p:sp>
      <p:sp>
        <p:nvSpPr>
          <p:cNvPr id="5" name="gi 0 circle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6" name="gi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" y="2476195"/>
            <a:ext cx="213970" cy="213970"/>
          </a:xfrm>
          <a:prstGeom prst="rect">
            <a:avLst/>
          </a:prstGeom>
        </p:spPr>
      </p:pic>
      <p:sp>
        <p:nvSpPr>
          <p:cNvPr id="7" name="gi text 0"/>
          <p:cNvSpPr txBox="1"/>
          <p:nvPr/>
        </p:nvSpPr>
        <p:spPr>
          <a:xfrm>
            <a:off x="1005840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Ведётся по ст. 56–57 ГрК РФ, региональные ГИСОГД и ГИСОГД РФ</a:t>
            </a:r>
            <a:endParaRPr lang="en-US" sz="1200" dirty="0"/>
          </a:p>
        </p:txBody>
      </p:sp>
      <p:sp>
        <p:nvSpPr>
          <p:cNvPr id="8" name="gi 1 circle"/>
          <p:cNvSpPr/>
          <p:nvPr/>
        </p:nvSpPr>
        <p:spPr>
          <a:xfrm>
            <a:off x="457200" y="2852928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9" name="gi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" y="2951683"/>
            <a:ext cx="213970" cy="213970"/>
          </a:xfrm>
          <a:prstGeom prst="rect">
            <a:avLst/>
          </a:prstGeom>
        </p:spPr>
      </p:pic>
      <p:sp>
        <p:nvSpPr>
          <p:cNvPr id="10" name="gi text 1"/>
          <p:cNvSpPr txBox="1"/>
          <p:nvPr/>
        </p:nvSpPr>
        <p:spPr>
          <a:xfrm>
            <a:off x="1005840" y="28529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Регламентированный состав разделов и форматов данных</a:t>
            </a:r>
            <a:endParaRPr lang="en-US" sz="1200" dirty="0"/>
          </a:p>
        </p:txBody>
      </p:sp>
      <p:sp>
        <p:nvSpPr>
          <p:cNvPr id="11" name="gi 2 circle"/>
          <p:cNvSpPr/>
          <p:nvPr/>
        </p:nvSpPr>
        <p:spPr>
          <a:xfrm>
            <a:off x="457200" y="3328416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2" name="gi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" y="3427171"/>
            <a:ext cx="213970" cy="213970"/>
          </a:xfrm>
          <a:prstGeom prst="rect">
            <a:avLst/>
          </a:prstGeom>
        </p:spPr>
      </p:pic>
      <p:sp>
        <p:nvSpPr>
          <p:cNvPr id="13" name="gi text 2"/>
          <p:cNvSpPr txBox="1"/>
          <p:nvPr/>
        </p:nvSpPr>
        <p:spPr>
          <a:xfrm>
            <a:off x="1005840" y="33284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Ведут органы власти и ОМСУ, пользуются застройщики и граждане</a:t>
            </a:r>
            <a:endParaRPr lang="en-US" sz="1200" dirty="0"/>
          </a:p>
        </p:txBody>
      </p:sp>
      <p:sp>
        <p:nvSpPr>
          <p:cNvPr id="14" name="gi 3 circle"/>
          <p:cNvSpPr/>
          <p:nvPr/>
        </p:nvSpPr>
        <p:spPr>
          <a:xfrm>
            <a:off x="457200" y="3803904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5" name="gi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" y="3902659"/>
            <a:ext cx="213970" cy="213970"/>
          </a:xfrm>
          <a:prstGeom prst="rect">
            <a:avLst/>
          </a:prstGeom>
        </p:spPr>
      </p:pic>
      <p:sp>
        <p:nvSpPr>
          <p:cNvPr id="16" name="gi text 3"/>
          <p:cNvSpPr txBox="1"/>
          <p:nvPr/>
        </p:nvSpPr>
        <p:spPr>
          <a:xfrm>
            <a:off x="1005840" y="38039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Обмен с ЕГРН, ФГИС ТП, НСПД через СМЭВ</a:t>
            </a:r>
            <a:endParaRPr lang="en-US" sz="1200" dirty="0"/>
          </a:p>
        </p:txBody>
      </p:sp>
      <p:sp>
        <p:nvSpPr>
          <p:cNvPr id="17" name="scorecard card"/>
          <p:cNvSpPr/>
          <p:nvPr/>
        </p:nvSpPr>
        <p:spPr>
          <a:xfrm>
            <a:off x="4846320" y="123444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core title"/>
          <p:cNvSpPr txBox="1"/>
          <p:nvPr/>
        </p:nvSpPr>
        <p:spPr>
          <a:xfrm>
            <a:off x="50749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Проверка по признакам платформы</a:t>
            </a:r>
            <a:endParaRPr lang="en-US" sz="1300" dirty="0"/>
          </a:p>
        </p:txBody>
      </p:sp>
      <p:sp>
        <p:nvSpPr>
          <p:cNvPr id="19" name="score name 0"/>
          <p:cNvSpPr txBox="1"/>
          <p:nvPr/>
        </p:nvSpPr>
        <p:spPr>
          <a:xfrm>
            <a:off x="5074920" y="17830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Общее ядро</a:t>
            </a:r>
            <a:endParaRPr lang="en-US" sz="1200" dirty="0"/>
          </a:p>
        </p:txBody>
      </p:sp>
      <p:sp>
        <p:nvSpPr>
          <p:cNvPr id="20" name="score desc 0"/>
          <p:cNvSpPr txBox="1"/>
          <p:nvPr/>
        </p:nvSpPr>
        <p:spPr>
          <a:xfrm>
            <a:off x="5074920" y="2020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единый реестр данных региона</a:t>
            </a:r>
            <a:endParaRPr lang="en-US" sz="1000" dirty="0"/>
          </a:p>
        </p:txBody>
      </p:sp>
      <p:sp>
        <p:nvSpPr>
          <p:cNvPr id="21" name="score 0 chip"/>
          <p:cNvSpPr/>
          <p:nvPr/>
        </p:nvSpPr>
        <p:spPr>
          <a:xfrm>
            <a:off x="7589520" y="185623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22" name="score 0 chip text"/>
          <p:cNvSpPr txBox="1"/>
          <p:nvPr/>
        </p:nvSpPr>
        <p:spPr>
          <a:xfrm>
            <a:off x="7589520" y="18562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есть</a:t>
            </a:r>
            <a:endParaRPr lang="en-US" sz="900" dirty="0"/>
          </a:p>
        </p:txBody>
      </p:sp>
      <p:sp>
        <p:nvSpPr>
          <p:cNvPr id="23" name="score name 1"/>
          <p:cNvSpPr txBox="1"/>
          <p:nvPr/>
        </p:nvSpPr>
        <p:spPr>
          <a:xfrm>
            <a:off x="5074920" y="23317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Открытые интерфейсы</a:t>
            </a:r>
            <a:endParaRPr lang="en-US" sz="1200" dirty="0"/>
          </a:p>
        </p:txBody>
      </p:sp>
      <p:sp>
        <p:nvSpPr>
          <p:cNvPr id="24" name="score desc 1"/>
          <p:cNvSpPr txBox="1"/>
          <p:nvPr/>
        </p:nvSpPr>
        <p:spPr>
          <a:xfrm>
            <a:off x="5074920" y="2569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обмен по СМЭВ, но без открытого API</a:t>
            </a:r>
            <a:endParaRPr lang="en-US" sz="1000" dirty="0"/>
          </a:p>
        </p:txBody>
      </p:sp>
      <p:sp>
        <p:nvSpPr>
          <p:cNvPr id="25" name="score 1 chip"/>
          <p:cNvSpPr/>
          <p:nvPr/>
        </p:nvSpPr>
        <p:spPr>
          <a:xfrm>
            <a:off x="7589520" y="240487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score 1 chip text"/>
          <p:cNvSpPr txBox="1"/>
          <p:nvPr/>
        </p:nvSpPr>
        <p:spPr>
          <a:xfrm>
            <a:off x="7589520" y="24048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частично</a:t>
            </a:r>
            <a:endParaRPr lang="en-US" sz="900" dirty="0"/>
          </a:p>
        </p:txBody>
      </p:sp>
      <p:sp>
        <p:nvSpPr>
          <p:cNvPr id="27" name="score name 2"/>
          <p:cNvSpPr txBox="1"/>
          <p:nvPr/>
        </p:nvSpPr>
        <p:spPr>
          <a:xfrm>
            <a:off x="5074920" y="28803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Много участников</a:t>
            </a:r>
            <a:endParaRPr lang="en-US" sz="1200" dirty="0"/>
          </a:p>
        </p:txBody>
      </p:sp>
      <p:sp>
        <p:nvSpPr>
          <p:cNvPr id="28" name="score desc 2"/>
          <p:cNvSpPr txBox="1"/>
          <p:nvPr/>
        </p:nvSpPr>
        <p:spPr>
          <a:xfrm>
            <a:off x="5074920" y="3118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роли жёстко заданы регламентом</a:t>
            </a:r>
            <a:endParaRPr lang="en-US" sz="1000" dirty="0"/>
          </a:p>
        </p:txBody>
      </p:sp>
      <p:sp>
        <p:nvSpPr>
          <p:cNvPr id="29" name="score 2 chip"/>
          <p:cNvSpPr/>
          <p:nvPr/>
        </p:nvSpPr>
        <p:spPr>
          <a:xfrm>
            <a:off x="7589520" y="295351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score 2 chip text"/>
          <p:cNvSpPr txBox="1"/>
          <p:nvPr/>
        </p:nvSpPr>
        <p:spPr>
          <a:xfrm>
            <a:off x="7589520" y="29535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частично</a:t>
            </a:r>
            <a:endParaRPr lang="en-US" sz="900" dirty="0"/>
          </a:p>
        </p:txBody>
      </p:sp>
      <p:sp>
        <p:nvSpPr>
          <p:cNvPr id="31" name="score name 3"/>
          <p:cNvSpPr txBox="1"/>
          <p:nvPr/>
        </p:nvSpPr>
        <p:spPr>
          <a:xfrm>
            <a:off x="5074920" y="342900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Сетевой эффект</a:t>
            </a:r>
            <a:endParaRPr lang="en-US" sz="1200" dirty="0"/>
          </a:p>
        </p:txBody>
      </p:sp>
      <p:sp>
        <p:nvSpPr>
          <p:cNvPr id="32" name="score desc 3"/>
          <p:cNvSpPr txBox="1"/>
          <p:nvPr/>
        </p:nvSpPr>
        <p:spPr>
          <a:xfrm>
            <a:off x="5074920" y="3666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ценность — в полноте данных</a:t>
            </a:r>
            <a:endParaRPr lang="en-US" sz="1000" dirty="0"/>
          </a:p>
        </p:txBody>
      </p:sp>
      <p:sp>
        <p:nvSpPr>
          <p:cNvPr id="33" name="score 3 chip"/>
          <p:cNvSpPr/>
          <p:nvPr/>
        </p:nvSpPr>
        <p:spPr>
          <a:xfrm>
            <a:off x="7589520" y="350215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8E3B46"/>
          </a:solidFill>
          <a:ln w="12700">
            <a:solidFill>
              <a:srgbClr val="8E3B46"/>
            </a:solidFill>
            <a:prstDash val="solid"/>
          </a:ln>
        </p:spPr>
      </p:sp>
      <p:sp>
        <p:nvSpPr>
          <p:cNvPr id="34" name="score 3 chip text"/>
          <p:cNvSpPr txBox="1"/>
          <p:nvPr/>
        </p:nvSpPr>
        <p:spPr>
          <a:xfrm>
            <a:off x="7589520" y="35021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нет</a:t>
            </a:r>
            <a:endParaRPr lang="en-US" sz="900" dirty="0"/>
          </a:p>
        </p:txBody>
      </p:sp>
      <p:sp>
        <p:nvSpPr>
          <p:cNvPr id="35" name="verdict bg"/>
          <p:cNvSpPr/>
          <p:nvPr/>
        </p:nvSpPr>
        <p:spPr>
          <a:xfrm>
            <a:off x="5074920" y="397764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6" name="verdict"/>
          <p:cNvSpPr txBox="1"/>
          <p:nvPr/>
        </p:nvSpPr>
        <p:spPr>
          <a:xfrm>
            <a:off x="5166360" y="3977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Вывод: информационная система с чертами платформы</a:t>
            </a:r>
            <a:endParaRPr lang="en-US" sz="1100" dirty="0"/>
          </a:p>
        </p:txBody>
      </p:sp>
      <p:sp>
        <p:nvSpPr>
          <p:cNvPr id="37" name="gisogd note"/>
          <p:cNvSpPr txBox="1"/>
          <p:nvPr/>
        </p:nvSpPr>
        <p:spPr>
          <a:xfrm>
            <a:off x="457200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Станет платформой, когда на её данных начнут работать внешние сервисы: проверка ограничений участка, онлайн-ГПЗУ, аналитика для планирования.</a:t>
            </a:r>
            <a:endParaRPr lang="en-US" sz="9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Коммерческие платформы России</a:t>
            </a:r>
            <a:endParaRPr lang="en-US" sz="2800" dirty="0"/>
          </a:p>
        </p:txBody>
      </p:sp>
      <p:sp>
        <p:nvSpPr>
          <p:cNvPr id="4" name="com 0 card"/>
          <p:cNvSpPr/>
          <p:nvPr/>
        </p:nvSpPr>
        <p:spPr>
          <a:xfrm>
            <a:off x="45720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com icon 0 circ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6" name="com icon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237744" cy="237744"/>
          </a:xfrm>
          <a:prstGeom prst="rect">
            <a:avLst/>
          </a:prstGeom>
        </p:spPr>
      </p:pic>
      <p:sp>
        <p:nvSpPr>
          <p:cNvPr id="7" name="com name 0"/>
          <p:cNvSpPr txBox="1"/>
          <p:nvPr/>
        </p:nvSpPr>
        <p:spPr>
          <a:xfrm>
            <a:off x="123444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1С:Предприятие</a:t>
            </a:r>
            <a:endParaRPr lang="en-US" sz="1400" dirty="0"/>
          </a:p>
        </p:txBody>
      </p:sp>
      <p:sp>
        <p:nvSpPr>
          <p:cNvPr id="8" name="com desc 0"/>
          <p:cNvSpPr txBox="1"/>
          <p:nvPr/>
        </p:nvSpPr>
        <p:spPr>
          <a:xfrm>
            <a:off x="64008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Тысячи прикладных решений от разных разработчиков на одном ядре</a:t>
            </a:r>
            <a:endParaRPr lang="en-US" sz="1100" dirty="0"/>
          </a:p>
        </p:txBody>
      </p:sp>
      <p:sp>
        <p:nvSpPr>
          <p:cNvPr id="9" name="com 0 chip"/>
          <p:cNvSpPr/>
          <p:nvPr/>
        </p:nvSpPr>
        <p:spPr>
          <a:xfrm>
            <a:off x="640080" y="249631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0" name="com 0 chip text"/>
          <p:cNvSpPr txBox="1"/>
          <p:nvPr/>
        </p:nvSpPr>
        <p:spPr>
          <a:xfrm>
            <a:off x="640080" y="24963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Технологическая</a:t>
            </a:r>
            <a:endParaRPr lang="en-US" sz="900" dirty="0"/>
          </a:p>
        </p:txBody>
      </p:sp>
      <p:sp>
        <p:nvSpPr>
          <p:cNvPr id="11" name="com 1 card"/>
          <p:cNvSpPr/>
          <p:nvPr/>
        </p:nvSpPr>
        <p:spPr>
          <a:xfrm>
            <a:off x="329184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com icon 1 circle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13" name="com icon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527048"/>
            <a:ext cx="237744" cy="237744"/>
          </a:xfrm>
          <a:prstGeom prst="rect">
            <a:avLst/>
          </a:prstGeom>
        </p:spPr>
      </p:pic>
      <p:sp>
        <p:nvSpPr>
          <p:cNvPr id="14" name="com name 1"/>
          <p:cNvSpPr txBox="1"/>
          <p:nvPr/>
        </p:nvSpPr>
        <p:spPr>
          <a:xfrm>
            <a:off x="406908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Сбер</a:t>
            </a:r>
            <a:endParaRPr lang="en-US" sz="1400" dirty="0"/>
          </a:p>
        </p:txBody>
      </p:sp>
      <p:sp>
        <p:nvSpPr>
          <p:cNvPr id="15" name="com desc 1"/>
          <p:cNvSpPr txBox="1"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Банк, маркетплейс, медиа, ИИ-сервисы вокруг одной подписки</a:t>
            </a:r>
            <a:endParaRPr lang="en-US" sz="1100" dirty="0"/>
          </a:p>
        </p:txBody>
      </p:sp>
      <p:sp>
        <p:nvSpPr>
          <p:cNvPr id="16" name="com 1 chip"/>
          <p:cNvSpPr/>
          <p:nvPr/>
        </p:nvSpPr>
        <p:spPr>
          <a:xfrm>
            <a:off x="3474720" y="249631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7" name="com 1 chip text"/>
          <p:cNvSpPr txBox="1"/>
          <p:nvPr/>
        </p:nvSpPr>
        <p:spPr>
          <a:xfrm>
            <a:off x="3474720" y="24963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Экосистема</a:t>
            </a:r>
            <a:endParaRPr lang="en-US" sz="900" dirty="0"/>
          </a:p>
        </p:txBody>
      </p:sp>
      <p:sp>
        <p:nvSpPr>
          <p:cNvPr id="18" name="com 2 card"/>
          <p:cNvSpPr/>
          <p:nvPr/>
        </p:nvSpPr>
        <p:spPr>
          <a:xfrm>
            <a:off x="612648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com icon 2 circle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20" name="com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527048"/>
            <a:ext cx="237744" cy="237744"/>
          </a:xfrm>
          <a:prstGeom prst="rect">
            <a:avLst/>
          </a:prstGeom>
        </p:spPr>
      </p:pic>
      <p:sp>
        <p:nvSpPr>
          <p:cNvPr id="21" name="com name 2"/>
          <p:cNvSpPr txBox="1"/>
          <p:nvPr/>
        </p:nvSpPr>
        <p:spPr>
          <a:xfrm>
            <a:off x="6903720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Яндекс</a:t>
            </a:r>
            <a:endParaRPr lang="en-US" sz="1400" dirty="0"/>
          </a:p>
        </p:txBody>
      </p:sp>
      <p:sp>
        <p:nvSpPr>
          <p:cNvPr id="22" name="com desc 2"/>
          <p:cNvSpPr txBox="1"/>
          <p:nvPr/>
        </p:nvSpPr>
        <p:spPr>
          <a:xfrm>
            <a:off x="630936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Поиск, такси, доставка, облако, нейросети</a:t>
            </a:r>
            <a:endParaRPr lang="en-US" sz="1100" dirty="0"/>
          </a:p>
        </p:txBody>
      </p:sp>
      <p:sp>
        <p:nvSpPr>
          <p:cNvPr id="23" name="com 2 chip"/>
          <p:cNvSpPr/>
          <p:nvPr/>
        </p:nvSpPr>
        <p:spPr>
          <a:xfrm>
            <a:off x="6309360" y="249631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4" name="com 2 chip text"/>
          <p:cNvSpPr txBox="1"/>
          <p:nvPr/>
        </p:nvSpPr>
        <p:spPr>
          <a:xfrm>
            <a:off x="6309360" y="24963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Экосистема</a:t>
            </a:r>
            <a:endParaRPr lang="en-US" sz="900" dirty="0"/>
          </a:p>
        </p:txBody>
      </p:sp>
      <p:sp>
        <p:nvSpPr>
          <p:cNvPr id="25" name="com 3 card"/>
          <p:cNvSpPr/>
          <p:nvPr/>
        </p:nvSpPr>
        <p:spPr>
          <a:xfrm>
            <a:off x="45720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com icon 3 circle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27" name="com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310128"/>
            <a:ext cx="237744" cy="237744"/>
          </a:xfrm>
          <a:prstGeom prst="rect">
            <a:avLst/>
          </a:prstGeom>
        </p:spPr>
      </p:pic>
      <p:sp>
        <p:nvSpPr>
          <p:cNvPr id="28" name="com name 3"/>
          <p:cNvSpPr txBox="1"/>
          <p:nvPr/>
        </p:nvSpPr>
        <p:spPr>
          <a:xfrm>
            <a:off x="123444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VK</a:t>
            </a:r>
            <a:endParaRPr lang="en-US" sz="1400" dirty="0"/>
          </a:p>
        </p:txBody>
      </p:sp>
      <p:sp>
        <p:nvSpPr>
          <p:cNvPr id="29" name="com desc 3"/>
          <p:cNvSpPr txBox="1"/>
          <p:nvPr/>
        </p:nvSpPr>
        <p:spPr>
          <a:xfrm>
            <a:off x="64008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Соцсети, мессенджер, образование, облако</a:t>
            </a:r>
            <a:endParaRPr lang="en-US" sz="1100" dirty="0"/>
          </a:p>
        </p:txBody>
      </p:sp>
      <p:sp>
        <p:nvSpPr>
          <p:cNvPr id="30" name="com 3 chip"/>
          <p:cNvSpPr/>
          <p:nvPr/>
        </p:nvSpPr>
        <p:spPr>
          <a:xfrm>
            <a:off x="640080" y="427939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1" name="com 3 chip text"/>
          <p:cNvSpPr txBox="1"/>
          <p:nvPr/>
        </p:nvSpPr>
        <p:spPr>
          <a:xfrm>
            <a:off x="640080" y="42793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Коммуникации</a:t>
            </a:r>
            <a:endParaRPr lang="en-US" sz="900" dirty="0"/>
          </a:p>
        </p:txBody>
      </p:sp>
      <p:sp>
        <p:nvSpPr>
          <p:cNvPr id="32" name="com 4 card"/>
          <p:cNvSpPr/>
          <p:nvPr/>
        </p:nvSpPr>
        <p:spPr>
          <a:xfrm>
            <a:off x="329184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com icon 4 circle"/>
          <p:cNvSpPr/>
          <p:nvPr/>
        </p:nvSpPr>
        <p:spPr>
          <a:xfrm>
            <a:off x="3474720" y="3200400"/>
            <a:ext cx="457200" cy="4572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34" name="com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3310128"/>
            <a:ext cx="237744" cy="237744"/>
          </a:xfrm>
          <a:prstGeom prst="rect">
            <a:avLst/>
          </a:prstGeom>
        </p:spPr>
      </p:pic>
      <p:sp>
        <p:nvSpPr>
          <p:cNvPr id="35" name="com name 4"/>
          <p:cNvSpPr txBox="1"/>
          <p:nvPr/>
        </p:nvSpPr>
        <p:spPr>
          <a:xfrm>
            <a:off x="406908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Ozon · Wildberries</a:t>
            </a:r>
            <a:endParaRPr lang="en-US" sz="1400" dirty="0"/>
          </a:p>
        </p:txBody>
      </p:sp>
      <p:sp>
        <p:nvSpPr>
          <p:cNvPr id="36" name="com desc 4"/>
          <p:cNvSpPr txBox="1"/>
          <p:nvPr/>
        </p:nvSpPr>
        <p:spPr>
          <a:xfrm>
            <a:off x="347472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Сотни тысяч продавцов и логистика на одной площадке</a:t>
            </a:r>
            <a:endParaRPr lang="en-US" sz="1100" dirty="0"/>
          </a:p>
        </p:txBody>
      </p:sp>
      <p:sp>
        <p:nvSpPr>
          <p:cNvPr id="37" name="com 4 chip"/>
          <p:cNvSpPr/>
          <p:nvPr/>
        </p:nvSpPr>
        <p:spPr>
          <a:xfrm>
            <a:off x="3474720" y="427939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8" name="com 4 chip text"/>
          <p:cNvSpPr txBox="1"/>
          <p:nvPr/>
        </p:nvSpPr>
        <p:spPr>
          <a:xfrm>
            <a:off x="3474720" y="42793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Маркетплейсы</a:t>
            </a:r>
            <a:endParaRPr lang="en-US" sz="900" dirty="0"/>
          </a:p>
        </p:txBody>
      </p:sp>
      <p:sp>
        <p:nvSpPr>
          <p:cNvPr id="39" name="com 5 card"/>
          <p:cNvSpPr/>
          <p:nvPr/>
        </p:nvSpPr>
        <p:spPr>
          <a:xfrm>
            <a:off x="612648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0" name="com icon 5 circle"/>
          <p:cNvSpPr/>
          <p:nvPr/>
        </p:nvSpPr>
        <p:spPr>
          <a:xfrm>
            <a:off x="6309360" y="3200400"/>
            <a:ext cx="457200" cy="4572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41" name="com icon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3310128"/>
            <a:ext cx="237744" cy="237744"/>
          </a:xfrm>
          <a:prstGeom prst="rect">
            <a:avLst/>
          </a:prstGeom>
        </p:spPr>
      </p:pic>
      <p:sp>
        <p:nvSpPr>
          <p:cNvPr id="42" name="com name 5"/>
          <p:cNvSpPr txBox="1"/>
          <p:nvPr/>
        </p:nvSpPr>
        <p:spPr>
          <a:xfrm>
            <a:off x="690372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Битрикс24 · Контур</a:t>
            </a:r>
            <a:endParaRPr lang="en-US" sz="1400" dirty="0"/>
          </a:p>
        </p:txBody>
      </p:sp>
      <p:sp>
        <p:nvSpPr>
          <p:cNvPr id="43" name="com desc 5"/>
          <p:cNvSpPr txBox="1"/>
          <p:nvPr/>
        </p:nvSpPr>
        <p:spPr>
          <a:xfrm>
            <a:off x="630936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CRM, документооборот, отчётность, магазины приложений</a:t>
            </a:r>
            <a:endParaRPr lang="en-US" sz="1100" dirty="0"/>
          </a:p>
        </p:txBody>
      </p:sp>
      <p:sp>
        <p:nvSpPr>
          <p:cNvPr id="44" name="com 5 chip"/>
          <p:cNvSpPr/>
          <p:nvPr/>
        </p:nvSpPr>
        <p:spPr>
          <a:xfrm>
            <a:off x="6309360" y="427939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45" name="com 5 chip text"/>
          <p:cNvSpPr txBox="1"/>
          <p:nvPr/>
        </p:nvSpPr>
        <p:spPr>
          <a:xfrm>
            <a:off x="6309360" y="42793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Бизнес-платформы</a:t>
            </a:r>
            <a:endParaRPr lang="en-US" sz="9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Плюсы и минусы платформ</a:t>
            </a:r>
            <a:endParaRPr lang="en-US" sz="2800" dirty="0"/>
          </a:p>
        </p:txBody>
      </p:sp>
      <p:sp>
        <p:nvSpPr>
          <p:cNvPr id="4" name="pc 0 card"/>
          <p:cNvSpPr/>
          <p:nvPr/>
        </p:nvSpPr>
        <p:spPr>
          <a:xfrm>
            <a:off x="457200" y="123444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E3F1EE"/>
          </a:solidFill>
          <a:ln w="12700">
            <a:solidFill>
              <a:srgbClr val="E3F1EE"/>
            </a:solidFill>
            <a:prstDash val="solid"/>
          </a:ln>
        </p:spPr>
      </p:sp>
      <p:sp>
        <p:nvSpPr>
          <p:cNvPr id="5" name="pc icon 0 circle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6" name="pc icon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583741"/>
            <a:ext cx="261518" cy="261518"/>
          </a:xfrm>
          <a:prstGeom prst="rect">
            <a:avLst/>
          </a:prstGeom>
        </p:spPr>
      </p:pic>
      <p:sp>
        <p:nvSpPr>
          <p:cNvPr id="7" name="pc title 0"/>
          <p:cNvSpPr txBox="1"/>
          <p:nvPr/>
        </p:nvSpPr>
        <p:spPr>
          <a:xfrm>
            <a:off x="132588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8E7E"/>
                </a:solidFill>
              </a:rPr>
              <a:t>Плюсы</a:t>
            </a:r>
            <a:endParaRPr lang="en-US" sz="1800" dirty="0"/>
          </a:p>
        </p:txBody>
      </p:sp>
      <p:sp>
        <p:nvSpPr>
          <p:cNvPr id="8" name="pc list 0"/>
          <p:cNvSpPr txBox="1"/>
          <p:nvPr/>
        </p:nvSpPr>
        <p:spPr>
          <a:xfrm>
            <a:off x="685800" y="214884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Быстрое масштабирование без переработки ядра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Единый вход и единые данные для пользователя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Экономия за счёт переиспользования компонентов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Сетевой эффект: ценность растёт быстрее затрат</a:t>
            </a:r>
            <a:endParaRPr lang="en-US" sz="1300" dirty="0"/>
          </a:p>
        </p:txBody>
      </p:sp>
      <p:sp>
        <p:nvSpPr>
          <p:cNvPr id="9" name="pc 1 card"/>
          <p:cNvSpPr/>
          <p:nvPr/>
        </p:nvSpPr>
        <p:spPr>
          <a:xfrm>
            <a:off x="4663440" y="123444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6E8EA"/>
          </a:solidFill>
          <a:ln w="12700">
            <a:solidFill>
              <a:srgbClr val="F6E8EA"/>
            </a:solidFill>
            <a:prstDash val="solid"/>
          </a:ln>
        </p:spPr>
      </p:sp>
      <p:sp>
        <p:nvSpPr>
          <p:cNvPr id="10" name="pc icon 1 circle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rgbClr val="8E3B46"/>
          </a:solidFill>
          <a:ln w="12700">
            <a:solidFill>
              <a:srgbClr val="8E3B46"/>
            </a:solidFill>
            <a:prstDash val="solid"/>
          </a:ln>
        </p:spPr>
      </p:sp>
      <p:pic>
        <p:nvPicPr>
          <p:cNvPr id="11" name="pc icon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1583741"/>
            <a:ext cx="261518" cy="261518"/>
          </a:xfrm>
          <a:prstGeom prst="rect">
            <a:avLst/>
          </a:prstGeom>
        </p:spPr>
      </p:pic>
      <p:sp>
        <p:nvSpPr>
          <p:cNvPr id="12" name="pc title 1"/>
          <p:cNvSpPr txBox="1"/>
          <p:nvPr/>
        </p:nvSpPr>
        <p:spPr>
          <a:xfrm>
            <a:off x="553212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E3B46"/>
                </a:solidFill>
              </a:rPr>
              <a:t>Минусы и риски</a:t>
            </a:r>
            <a:endParaRPr lang="en-US" sz="1800" dirty="0"/>
          </a:p>
        </p:txBody>
      </p:sp>
      <p:sp>
        <p:nvSpPr>
          <p:cNvPr id="13" name="pc list 1"/>
          <p:cNvSpPr txBox="1"/>
          <p:nvPr/>
        </p:nvSpPr>
        <p:spPr>
          <a:xfrm>
            <a:off x="4892040" y="214884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Зависимость от владельца: правила, комиссии, форматы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Концентрация рисков — сбой затрагивает всех сразу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Монополизация рынка и вытеснение альтернатив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Дорогая миграция: уйти сложнее, чем прийти</a:t>
            </a:r>
            <a:endParaRPr lang="en-US" sz="1300" dirty="0"/>
          </a:p>
        </p:txBody>
      </p:sp>
      <p:sp>
        <p:nvSpPr>
          <p:cNvPr id="14" name="pc conclusion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Для государства и крупных организаций риски зависимости — главный аргумент в пользу собственных, суверенных платформ.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ИИ-платформы: что это</a:t>
            </a:r>
            <a:endParaRPr lang="en-US" sz="2800" dirty="0"/>
          </a:p>
        </p:txBody>
      </p:sp>
      <p:sp>
        <p:nvSpPr>
          <p:cNvPr id="4" name="ai def"/>
          <p:cNvSpPr txBox="1"/>
          <p:nvPr/>
        </p:nvSpPr>
        <p:spPr>
          <a:xfrm>
            <a:off x="457200" y="1234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ИИ-платформа — это не отдельный чат-бот, а стек из моделей, инструментов и приложений, на котором разработчики строят собственные продукты.</a:t>
            </a:r>
            <a:endParaRPr lang="en-US" sz="1500" dirty="0"/>
          </a:p>
        </p:txBody>
      </p:sp>
      <p:sp>
        <p:nvSpPr>
          <p:cNvPr id="5" name="ai note"/>
          <p:cNvSpPr txBox="1"/>
          <p:nvPr/>
        </p:nvSpPr>
        <p:spPr>
          <a:xfrm>
            <a:off x="45720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Отличие от «просто модели» — инструменты и экосистема вокруг неё: так же, как операционная система отличается от программы.</a:t>
            </a:r>
            <a:endParaRPr lang="en-US" sz="1200" dirty="0"/>
          </a:p>
        </p:txBody>
      </p:sp>
      <p:sp>
        <p:nvSpPr>
          <p:cNvPr id="6" name="ai cloud circle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7" name="ai cloud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47288"/>
            <a:ext cx="237744" cy="237744"/>
          </a:xfrm>
          <a:prstGeom prst="rect">
            <a:avLst/>
          </a:prstGeom>
        </p:spPr>
      </p:pic>
      <p:sp>
        <p:nvSpPr>
          <p:cNvPr id="8" name="ai cloud text"/>
          <p:cNvSpPr txBox="1"/>
          <p:nvPr/>
        </p:nvSpPr>
        <p:spPr>
          <a:xfrm>
            <a:off x="105156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Облако провайдера — быстро, без своего железа</a:t>
            </a:r>
            <a:endParaRPr lang="en-US" sz="1200" dirty="0"/>
          </a:p>
        </p:txBody>
      </p:sp>
      <p:sp>
        <p:nvSpPr>
          <p:cNvPr id="9" name="ai onprem circle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10" name="ai onprem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41648"/>
            <a:ext cx="237744" cy="237744"/>
          </a:xfrm>
          <a:prstGeom prst="rect">
            <a:avLst/>
          </a:prstGeom>
        </p:spPr>
      </p:pic>
      <p:sp>
        <p:nvSpPr>
          <p:cNvPr id="11" name="ai onprem text"/>
          <p:cNvSpPr txBox="1"/>
          <p:nvPr/>
        </p:nvSpPr>
        <p:spPr>
          <a:xfrm>
            <a:off x="105156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Локальное развёртывание — данные остаются в своём контуре</a:t>
            </a:r>
            <a:endParaRPr lang="en-US" sz="1200" dirty="0"/>
          </a:p>
        </p:txBody>
      </p:sp>
      <p:sp>
        <p:nvSpPr>
          <p:cNvPr id="12" name="ai layer 0"/>
          <p:cNvSpPr/>
          <p:nvPr/>
        </p:nvSpPr>
        <p:spPr>
          <a:xfrm>
            <a:off x="4846320" y="123444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3" name="ai layer name 0"/>
          <p:cNvSpPr txBox="1"/>
          <p:nvPr/>
        </p:nvSpPr>
        <p:spPr>
          <a:xfrm>
            <a:off x="5074920" y="1344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Приложения</a:t>
            </a:r>
            <a:endParaRPr lang="en-US" sz="1500" dirty="0"/>
          </a:p>
        </p:txBody>
      </p:sp>
      <p:sp>
        <p:nvSpPr>
          <p:cNvPr id="14" name="ai layer desc 0"/>
          <p:cNvSpPr txBox="1"/>
          <p:nvPr/>
        </p:nvSpPr>
        <p:spPr>
          <a:xfrm>
            <a:off x="5074920" y="1673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E2A47"/>
                </a:solidFill>
              </a:rPr>
              <a:t>Ассистенты · генерация текста и изображений · анализ данных · автоматизация поддержки</a:t>
            </a:r>
            <a:endParaRPr lang="en-US" sz="1100" dirty="0"/>
          </a:p>
        </p:txBody>
      </p:sp>
      <p:sp>
        <p:nvSpPr>
          <p:cNvPr id="15" name="ai layer 1"/>
          <p:cNvSpPr/>
          <p:nvPr/>
        </p:nvSpPr>
        <p:spPr>
          <a:xfrm>
            <a:off x="4846320" y="233172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ai layer name 1"/>
          <p:cNvSpPr txBox="1"/>
          <p:nvPr/>
        </p:nvSpPr>
        <p:spPr>
          <a:xfrm>
            <a:off x="5074920" y="2441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Инструменты</a:t>
            </a:r>
            <a:endParaRPr lang="en-US" sz="1500" dirty="0"/>
          </a:p>
        </p:txBody>
      </p:sp>
      <p:sp>
        <p:nvSpPr>
          <p:cNvPr id="17" name="ai layer desc 1"/>
          <p:cNvSpPr txBox="1"/>
          <p:nvPr/>
        </p:nvSpPr>
        <p:spPr>
          <a:xfrm>
            <a:off x="5074920" y="27706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API · дообучение на своих данных · поиск по документам (RAG) · агенты</a:t>
            </a:r>
            <a:endParaRPr lang="en-US" sz="1100" dirty="0"/>
          </a:p>
        </p:txBody>
      </p:sp>
      <p:sp>
        <p:nvSpPr>
          <p:cNvPr id="18" name="ai layer 2"/>
          <p:cNvSpPr/>
          <p:nvPr/>
        </p:nvSpPr>
        <p:spPr>
          <a:xfrm>
            <a:off x="4846320" y="3429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9" name="ai layer name 2"/>
          <p:cNvSpPr txBox="1"/>
          <p:nvPr/>
        </p:nvSpPr>
        <p:spPr>
          <a:xfrm>
            <a:off x="5074920" y="3538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Модели</a:t>
            </a:r>
            <a:endParaRPr lang="en-US" sz="1500" dirty="0"/>
          </a:p>
        </p:txBody>
      </p:sp>
      <p:sp>
        <p:nvSpPr>
          <p:cNvPr id="20" name="ai layer desc 2"/>
          <p:cNvSpPr txBox="1"/>
          <p:nvPr/>
        </p:nvSpPr>
        <p:spPr>
          <a:xfrm>
            <a:off x="5074920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Большие языковые и мультимодальные модели, открытые и закрытые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Российские ИИ-платформы</a:t>
            </a:r>
            <a:endParaRPr lang="en-US" sz="2800" dirty="0"/>
          </a:p>
        </p:txBody>
      </p:sp>
      <p:sp>
        <p:nvSpPr>
          <p:cNvPr id="4" name="rai 0 card"/>
          <p:cNvSpPr/>
          <p:nvPr/>
        </p:nvSpPr>
        <p:spPr>
          <a:xfrm>
            <a:off x="45720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rai name 0"/>
          <p:cNvSpPr txBox="1"/>
          <p:nvPr/>
        </p:nvSpPr>
        <p:spPr>
          <a:xfrm>
            <a:off x="640080" y="1399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GigaChat</a:t>
            </a:r>
            <a:endParaRPr lang="en-US" sz="1500" dirty="0"/>
          </a:p>
        </p:txBody>
      </p:sp>
      <p:sp>
        <p:nvSpPr>
          <p:cNvPr id="6" name="rai company 0"/>
          <p:cNvSpPr txBox="1"/>
          <p:nvPr/>
        </p:nvSpPr>
        <p:spPr>
          <a:xfrm>
            <a:off x="640080" y="1709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Сбер</a:t>
            </a:r>
            <a:endParaRPr lang="en-US" sz="1100" dirty="0"/>
          </a:p>
        </p:txBody>
      </p:sp>
      <p:sp>
        <p:nvSpPr>
          <p:cNvPr id="7" name="rai desc 0"/>
          <p:cNvSpPr txBox="1"/>
          <p:nvPr/>
        </p:nvSpPr>
        <p:spPr>
          <a:xfrm>
            <a:off x="64008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Модели, API и сервисы, встроенные в экосистему и госсервисы</a:t>
            </a:r>
            <a:endParaRPr lang="en-US" sz="1100" dirty="0"/>
          </a:p>
        </p:txBody>
      </p:sp>
      <p:sp>
        <p:nvSpPr>
          <p:cNvPr id="8" name="rai 0 chip"/>
          <p:cNvSpPr/>
          <p:nvPr/>
        </p:nvSpPr>
        <p:spPr>
          <a:xfrm>
            <a:off x="640080" y="249631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9" name="rai 0 chip text"/>
          <p:cNvSpPr txBox="1"/>
          <p:nvPr/>
        </p:nvSpPr>
        <p:spPr>
          <a:xfrm>
            <a:off x="640080" y="24963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Облако · API</a:t>
            </a:r>
            <a:endParaRPr lang="en-US" sz="900" dirty="0"/>
          </a:p>
        </p:txBody>
      </p:sp>
      <p:sp>
        <p:nvSpPr>
          <p:cNvPr id="10" name="rai 1 card"/>
          <p:cNvSpPr/>
          <p:nvPr/>
        </p:nvSpPr>
        <p:spPr>
          <a:xfrm>
            <a:off x="329184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rai name 1"/>
          <p:cNvSpPr txBox="1"/>
          <p:nvPr/>
        </p:nvSpPr>
        <p:spPr>
          <a:xfrm>
            <a:off x="3474720" y="1399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YandexGPT · Алиса AI</a:t>
            </a:r>
            <a:endParaRPr lang="en-US" sz="1500" dirty="0"/>
          </a:p>
        </p:txBody>
      </p:sp>
      <p:sp>
        <p:nvSpPr>
          <p:cNvPr id="12" name="rai company 1"/>
          <p:cNvSpPr txBox="1"/>
          <p:nvPr/>
        </p:nvSpPr>
        <p:spPr>
          <a:xfrm>
            <a:off x="3474720" y="1709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Яндекс</a:t>
            </a:r>
            <a:endParaRPr lang="en-US" sz="1100" dirty="0"/>
          </a:p>
        </p:txBody>
      </p:sp>
      <p:sp>
        <p:nvSpPr>
          <p:cNvPr id="13" name="rai desc 1"/>
          <p:cNvSpPr txBox="1"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Модели, векторный поиск и агенты в Yandex Cloud AI Studio</a:t>
            </a:r>
            <a:endParaRPr lang="en-US" sz="1100" dirty="0"/>
          </a:p>
        </p:txBody>
      </p:sp>
      <p:sp>
        <p:nvSpPr>
          <p:cNvPr id="14" name="rai 1 chip"/>
          <p:cNvSpPr/>
          <p:nvPr/>
        </p:nvSpPr>
        <p:spPr>
          <a:xfrm>
            <a:off x="3474720" y="249631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5" name="rai 1 chip text"/>
          <p:cNvSpPr txBox="1"/>
          <p:nvPr/>
        </p:nvSpPr>
        <p:spPr>
          <a:xfrm>
            <a:off x="3474720" y="24963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Облако · API</a:t>
            </a:r>
            <a:endParaRPr lang="en-US" sz="900" dirty="0"/>
          </a:p>
        </p:txBody>
      </p:sp>
      <p:sp>
        <p:nvSpPr>
          <p:cNvPr id="16" name="rai 2 card"/>
          <p:cNvSpPr/>
          <p:nvPr/>
        </p:nvSpPr>
        <p:spPr>
          <a:xfrm>
            <a:off x="6126480" y="12344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rai name 2"/>
          <p:cNvSpPr txBox="1"/>
          <p:nvPr/>
        </p:nvSpPr>
        <p:spPr>
          <a:xfrm>
            <a:off x="6309360" y="1399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Cotype</a:t>
            </a:r>
            <a:endParaRPr lang="en-US" sz="1500" dirty="0"/>
          </a:p>
        </p:txBody>
      </p:sp>
      <p:sp>
        <p:nvSpPr>
          <p:cNvPr id="18" name="rai company 2"/>
          <p:cNvSpPr txBox="1"/>
          <p:nvPr/>
        </p:nvSpPr>
        <p:spPr>
          <a:xfrm>
            <a:off x="6309360" y="1709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MTS AI</a:t>
            </a:r>
            <a:endParaRPr lang="en-US" sz="1100" dirty="0"/>
          </a:p>
        </p:txBody>
      </p:sp>
      <p:sp>
        <p:nvSpPr>
          <p:cNvPr id="19" name="rai desc 2"/>
          <p:cNvSpPr txBox="1"/>
          <p:nvPr/>
        </p:nvSpPr>
        <p:spPr>
          <a:xfrm>
            <a:off x="6309360" y="1984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Корпоративные модели с локальным развёртыванием</a:t>
            </a:r>
            <a:endParaRPr lang="en-US" sz="1100" dirty="0"/>
          </a:p>
        </p:txBody>
      </p:sp>
      <p:sp>
        <p:nvSpPr>
          <p:cNvPr id="20" name="rai 2 chip"/>
          <p:cNvSpPr/>
          <p:nvPr/>
        </p:nvSpPr>
        <p:spPr>
          <a:xfrm>
            <a:off x="6309360" y="249631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rai 2 chip text"/>
          <p:cNvSpPr txBox="1"/>
          <p:nvPr/>
        </p:nvSpPr>
        <p:spPr>
          <a:xfrm>
            <a:off x="6309360" y="24963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On-premise</a:t>
            </a:r>
            <a:endParaRPr lang="en-US" sz="900" dirty="0"/>
          </a:p>
        </p:txBody>
      </p:sp>
      <p:sp>
        <p:nvSpPr>
          <p:cNvPr id="22" name="rai 3 card"/>
          <p:cNvSpPr/>
          <p:nvPr/>
        </p:nvSpPr>
        <p:spPr>
          <a:xfrm>
            <a:off x="45720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rai name 3"/>
          <p:cNvSpPr txBox="1"/>
          <p:nvPr/>
        </p:nvSpPr>
        <p:spPr>
          <a:xfrm>
            <a:off x="640080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T-Pro</a:t>
            </a:r>
            <a:endParaRPr lang="en-US" sz="1500" dirty="0"/>
          </a:p>
        </p:txBody>
      </p:sp>
      <p:sp>
        <p:nvSpPr>
          <p:cNvPr id="24" name="rai company 3"/>
          <p:cNvSpPr txBox="1"/>
          <p:nvPr/>
        </p:nvSpPr>
        <p:spPr>
          <a:xfrm>
            <a:off x="640080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Т-Банк</a:t>
            </a:r>
            <a:endParaRPr lang="en-US" sz="1100" dirty="0"/>
          </a:p>
        </p:txBody>
      </p:sp>
      <p:sp>
        <p:nvSpPr>
          <p:cNvPr id="25" name="rai desc 3"/>
          <p:cNvSpPr txBox="1"/>
          <p:nvPr/>
        </p:nvSpPr>
        <p:spPr>
          <a:xfrm>
            <a:off x="640080" y="3767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Открытые модели для запуска на своей инфраструктуре</a:t>
            </a:r>
            <a:endParaRPr lang="en-US" sz="1100" dirty="0"/>
          </a:p>
        </p:txBody>
      </p:sp>
      <p:sp>
        <p:nvSpPr>
          <p:cNvPr id="26" name="rai 3 chip"/>
          <p:cNvSpPr/>
          <p:nvPr/>
        </p:nvSpPr>
        <p:spPr>
          <a:xfrm>
            <a:off x="640080" y="427939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rai 3 chip text"/>
          <p:cNvSpPr txBox="1"/>
          <p:nvPr/>
        </p:nvSpPr>
        <p:spPr>
          <a:xfrm>
            <a:off x="640080" y="42793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Open source</a:t>
            </a:r>
            <a:endParaRPr lang="en-US" sz="900" dirty="0"/>
          </a:p>
        </p:txBody>
      </p:sp>
      <p:sp>
        <p:nvSpPr>
          <p:cNvPr id="28" name="rai 4 card"/>
          <p:cNvSpPr/>
          <p:nvPr/>
        </p:nvSpPr>
        <p:spPr>
          <a:xfrm>
            <a:off x="329184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rai name 4"/>
          <p:cNvSpPr txBox="1"/>
          <p:nvPr/>
        </p:nvSpPr>
        <p:spPr>
          <a:xfrm>
            <a:off x="3474720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Kandinsky</a:t>
            </a:r>
            <a:endParaRPr lang="en-US" sz="1500" dirty="0"/>
          </a:p>
        </p:txBody>
      </p:sp>
      <p:sp>
        <p:nvSpPr>
          <p:cNvPr id="30" name="rai company 4"/>
          <p:cNvSpPr txBox="1"/>
          <p:nvPr/>
        </p:nvSpPr>
        <p:spPr>
          <a:xfrm>
            <a:off x="3474720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Сбер</a:t>
            </a:r>
            <a:endParaRPr lang="en-US" sz="1100" dirty="0"/>
          </a:p>
        </p:txBody>
      </p:sp>
      <p:sp>
        <p:nvSpPr>
          <p:cNvPr id="31" name="rai desc 4"/>
          <p:cNvSpPr txBox="1"/>
          <p:nvPr/>
        </p:nvSpPr>
        <p:spPr>
          <a:xfrm>
            <a:off x="3474720" y="3767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Генерация изображений и видео</a:t>
            </a:r>
            <a:endParaRPr lang="en-US" sz="1100" dirty="0"/>
          </a:p>
        </p:txBody>
      </p:sp>
      <p:sp>
        <p:nvSpPr>
          <p:cNvPr id="32" name="rai 4 chip"/>
          <p:cNvSpPr/>
          <p:nvPr/>
        </p:nvSpPr>
        <p:spPr>
          <a:xfrm>
            <a:off x="3474720" y="427939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3" name="rai 4 chip text"/>
          <p:cNvSpPr txBox="1"/>
          <p:nvPr/>
        </p:nvSpPr>
        <p:spPr>
          <a:xfrm>
            <a:off x="3474720" y="42793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Облако · API</a:t>
            </a:r>
            <a:endParaRPr lang="en-US" sz="900" dirty="0"/>
          </a:p>
        </p:txBody>
      </p:sp>
      <p:sp>
        <p:nvSpPr>
          <p:cNvPr id="34" name="rai 5 card"/>
          <p:cNvSpPr/>
          <p:nvPr/>
        </p:nvSpPr>
        <p:spPr>
          <a:xfrm>
            <a:off x="6126480" y="301752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rai name 5"/>
          <p:cNvSpPr txBox="1"/>
          <p:nvPr/>
        </p:nvSpPr>
        <p:spPr>
          <a:xfrm>
            <a:off x="6309360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ГосПромт</a:t>
            </a:r>
            <a:endParaRPr lang="en-US" sz="1500" dirty="0"/>
          </a:p>
        </p:txBody>
      </p:sp>
      <p:sp>
        <p:nvSpPr>
          <p:cNvPr id="36" name="rai company 5"/>
          <p:cNvSpPr txBox="1"/>
          <p:nvPr/>
        </p:nvSpPr>
        <p:spPr>
          <a:xfrm>
            <a:off x="6309360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Минцифры Татарстана</a:t>
            </a:r>
            <a:endParaRPr lang="en-US" sz="1100" dirty="0"/>
          </a:p>
        </p:txBody>
      </p:sp>
      <p:sp>
        <p:nvSpPr>
          <p:cNvPr id="37" name="rai desc 5"/>
          <p:cNvSpPr txBox="1"/>
          <p:nvPr/>
        </p:nvSpPr>
        <p:spPr>
          <a:xfrm>
            <a:off x="6309360" y="3767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ИИ-помощник госслужащих на открытых моделях; 25 ведомств</a:t>
            </a:r>
            <a:endParaRPr lang="en-US" sz="1100" dirty="0"/>
          </a:p>
        </p:txBody>
      </p:sp>
      <p:sp>
        <p:nvSpPr>
          <p:cNvPr id="38" name="rai 5 chip"/>
          <p:cNvSpPr/>
          <p:nvPr/>
        </p:nvSpPr>
        <p:spPr>
          <a:xfrm>
            <a:off x="6309360" y="427939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9" name="rai 5 chip text"/>
          <p:cNvSpPr txBox="1"/>
          <p:nvPr/>
        </p:nvSpPr>
        <p:spPr>
          <a:xfrm>
            <a:off x="6309360" y="42793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Open-source LLM</a:t>
            </a:r>
            <a:endParaRPr lang="en-US" sz="9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Будущее платформ и ИИ</a:t>
            </a:r>
            <a:endParaRPr lang="en-US" sz="2800" dirty="0"/>
          </a:p>
        </p:txBody>
      </p:sp>
      <p:sp>
        <p:nvSpPr>
          <p:cNvPr id="4" name="fut 0 circle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5" name="fut 0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309421"/>
            <a:ext cx="261518" cy="261518"/>
          </a:xfrm>
          <a:prstGeom prst="rect">
            <a:avLst/>
          </a:prstGeom>
        </p:spPr>
      </p:pic>
      <p:sp>
        <p:nvSpPr>
          <p:cNvPr id="6" name="fut name 0"/>
          <p:cNvSpPr txBox="1"/>
          <p:nvPr/>
        </p:nvSpPr>
        <p:spPr>
          <a:xfrm>
            <a:off x="1143000" y="1170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ИИ — слой внутри каждой платформы</a:t>
            </a:r>
            <a:endParaRPr lang="en-US" sz="1400" dirty="0"/>
          </a:p>
        </p:txBody>
      </p:sp>
      <p:sp>
        <p:nvSpPr>
          <p:cNvPr id="7" name="fut desc 0"/>
          <p:cNvSpPr txBox="1"/>
          <p:nvPr/>
        </p:nvSpPr>
        <p:spPr>
          <a:xfrm>
            <a:off x="1143000" y="1444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Помощник на Госуслугах, рекомендации и генерация в экосистемах</a:t>
            </a:r>
            <a:endParaRPr lang="en-US" sz="1100" dirty="0"/>
          </a:p>
        </p:txBody>
      </p:sp>
      <p:sp>
        <p:nvSpPr>
          <p:cNvPr id="8" name="fut 0 chip"/>
          <p:cNvSpPr/>
          <p:nvPr/>
        </p:nvSpPr>
        <p:spPr>
          <a:xfrm>
            <a:off x="7406640" y="131673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fut 0 chip text"/>
          <p:cNvSpPr txBox="1"/>
          <p:nvPr/>
        </p:nvSpPr>
        <p:spPr>
          <a:xfrm>
            <a:off x="7406640" y="13167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уже сейчас</a:t>
            </a:r>
            <a:endParaRPr lang="en-US" sz="900" dirty="0"/>
          </a:p>
        </p:txBody>
      </p:sp>
      <p:sp>
        <p:nvSpPr>
          <p:cNvPr id="10" name="fut 1 circle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11" name="fut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040941"/>
            <a:ext cx="261518" cy="261518"/>
          </a:xfrm>
          <a:prstGeom prst="rect">
            <a:avLst/>
          </a:prstGeom>
        </p:spPr>
      </p:pic>
      <p:sp>
        <p:nvSpPr>
          <p:cNvPr id="12" name="fut name 1"/>
          <p:cNvSpPr txBox="1"/>
          <p:nvPr/>
        </p:nvSpPr>
        <p:spPr>
          <a:xfrm>
            <a:off x="1143000" y="1901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ИИ-агенты выполняют задачи</a:t>
            </a:r>
            <a:endParaRPr lang="en-US" sz="1400" dirty="0"/>
          </a:p>
        </p:txBody>
      </p:sp>
      <p:sp>
        <p:nvSpPr>
          <p:cNvPr id="13" name="fut desc 1"/>
          <p:cNvSpPr txBox="1"/>
          <p:nvPr/>
        </p:nvSpPr>
        <p:spPr>
          <a:xfrm>
            <a:off x="1143000" y="21762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Оформляют заявления, сверяют документы, администрируют системы</a:t>
            </a:r>
            <a:endParaRPr lang="en-US" sz="1100" dirty="0"/>
          </a:p>
        </p:txBody>
      </p:sp>
      <p:sp>
        <p:nvSpPr>
          <p:cNvPr id="14" name="fut 1 chip"/>
          <p:cNvSpPr/>
          <p:nvPr/>
        </p:nvSpPr>
        <p:spPr>
          <a:xfrm>
            <a:off x="7406640" y="204825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5" name="fut 1 chip text"/>
          <p:cNvSpPr txBox="1"/>
          <p:nvPr/>
        </p:nvSpPr>
        <p:spPr>
          <a:xfrm>
            <a:off x="7406640" y="2048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1–3 года</a:t>
            </a:r>
            <a:endParaRPr lang="en-US" sz="900" dirty="0"/>
          </a:p>
        </p:txBody>
      </p:sp>
      <p:sp>
        <p:nvSpPr>
          <p:cNvPr id="16" name="fut 2 circle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7" name="fut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2772461"/>
            <a:ext cx="261518" cy="261518"/>
          </a:xfrm>
          <a:prstGeom prst="rect">
            <a:avLst/>
          </a:prstGeom>
        </p:spPr>
      </p:pic>
      <p:sp>
        <p:nvSpPr>
          <p:cNvPr id="18" name="fut name 2"/>
          <p:cNvSpPr txBox="1"/>
          <p:nvPr/>
        </p:nvSpPr>
        <p:spPr>
          <a:xfrm>
            <a:off x="1143000" y="26334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ИИ-помощники в госуправлении</a:t>
            </a:r>
            <a:endParaRPr lang="en-US" sz="1400" dirty="0"/>
          </a:p>
        </p:txBody>
      </p:sp>
      <p:sp>
        <p:nvSpPr>
          <p:cNvPr id="19" name="fut desc 2"/>
          <p:cNvSpPr txBox="1"/>
          <p:nvPr/>
        </p:nvSpPr>
        <p:spPr>
          <a:xfrm>
            <a:off x="1143000" y="29077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От ГосПромта для чиновников Татарстана — к агентам внутри ведомственных систем</a:t>
            </a:r>
            <a:endParaRPr lang="en-US" sz="1100" dirty="0"/>
          </a:p>
        </p:txBody>
      </p:sp>
      <p:sp>
        <p:nvSpPr>
          <p:cNvPr id="20" name="fut 2 chip"/>
          <p:cNvSpPr/>
          <p:nvPr/>
        </p:nvSpPr>
        <p:spPr>
          <a:xfrm>
            <a:off x="7406640" y="277977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1" name="fut 2 chip text"/>
          <p:cNvSpPr txBox="1"/>
          <p:nvPr/>
        </p:nvSpPr>
        <p:spPr>
          <a:xfrm>
            <a:off x="7406640" y="2779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1–3 года</a:t>
            </a:r>
            <a:endParaRPr lang="en-US" sz="900" dirty="0"/>
          </a:p>
        </p:txBody>
      </p:sp>
      <p:sp>
        <p:nvSpPr>
          <p:cNvPr id="22" name="fut 3 circle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23" name="fut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1" y="3503981"/>
            <a:ext cx="261518" cy="261518"/>
          </a:xfrm>
          <a:prstGeom prst="rect">
            <a:avLst/>
          </a:prstGeom>
        </p:spPr>
      </p:pic>
      <p:sp>
        <p:nvSpPr>
          <p:cNvPr id="24" name="fut name 3"/>
          <p:cNvSpPr txBox="1"/>
          <p:nvPr/>
        </p:nvSpPr>
        <p:spPr>
          <a:xfrm>
            <a:off x="1143000" y="33649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Суверенные решения</a:t>
            </a:r>
            <a:endParaRPr lang="en-US" sz="1400" dirty="0"/>
          </a:p>
        </p:txBody>
      </p:sp>
      <p:sp>
        <p:nvSpPr>
          <p:cNvPr id="25" name="fut desc 3"/>
          <p:cNvSpPr txBox="1"/>
          <p:nvPr/>
        </p:nvSpPr>
        <p:spPr>
          <a:xfrm>
            <a:off x="1143000" y="36393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Открытые модели и локальное развёртывание в своём контуре</a:t>
            </a:r>
            <a:endParaRPr lang="en-US" sz="1100" dirty="0"/>
          </a:p>
        </p:txBody>
      </p:sp>
      <p:sp>
        <p:nvSpPr>
          <p:cNvPr id="26" name="fut 3 chip"/>
          <p:cNvSpPr/>
          <p:nvPr/>
        </p:nvSpPr>
        <p:spPr>
          <a:xfrm>
            <a:off x="7406640" y="351129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fut 3 chip text"/>
          <p:cNvSpPr txBox="1"/>
          <p:nvPr/>
        </p:nvSpPr>
        <p:spPr>
          <a:xfrm>
            <a:off x="7406640" y="35112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уже сейчас</a:t>
            </a:r>
            <a:endParaRPr lang="en-US" sz="900" dirty="0"/>
          </a:p>
        </p:txBody>
      </p:sp>
      <p:sp>
        <p:nvSpPr>
          <p:cNvPr id="28" name="fut 4 circle"/>
          <p:cNvSpPr/>
          <p:nvPr/>
        </p:nvSpPr>
        <p:spPr>
          <a:xfrm>
            <a:off x="457200" y="4114800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9" name="fut 4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01" y="4235501"/>
            <a:ext cx="261518" cy="261518"/>
          </a:xfrm>
          <a:prstGeom prst="rect">
            <a:avLst/>
          </a:prstGeom>
        </p:spPr>
      </p:pic>
      <p:sp>
        <p:nvSpPr>
          <p:cNvPr id="30" name="fut name 4"/>
          <p:cNvSpPr txBox="1"/>
          <p:nvPr/>
        </p:nvSpPr>
        <p:spPr>
          <a:xfrm>
            <a:off x="1143000" y="40965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Регулирование</a:t>
            </a:r>
            <a:endParaRPr lang="en-US" sz="1400" dirty="0"/>
          </a:p>
        </p:txBody>
      </p:sp>
      <p:sp>
        <p:nvSpPr>
          <p:cNvPr id="31" name="fut desc 4"/>
          <p:cNvSpPr txBox="1"/>
          <p:nvPr/>
        </p:nvSpPr>
        <p:spPr>
          <a:xfrm>
            <a:off x="1143000" y="43708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Закон о платформенной экономике, требования к ИИ, защита данных</a:t>
            </a:r>
            <a:endParaRPr lang="en-US" sz="1100" dirty="0"/>
          </a:p>
        </p:txBody>
      </p:sp>
      <p:sp>
        <p:nvSpPr>
          <p:cNvPr id="32" name="fut 4 chip"/>
          <p:cNvSpPr/>
          <p:nvPr/>
        </p:nvSpPr>
        <p:spPr>
          <a:xfrm>
            <a:off x="7406640" y="4242816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3" name="fut 4 chip text"/>
          <p:cNvSpPr txBox="1"/>
          <p:nvPr/>
        </p:nvSpPr>
        <p:spPr>
          <a:xfrm>
            <a:off x="7406640" y="42428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A47"/>
                </a:solidFill>
              </a:rPr>
              <a:t>1–5 лет</a:t>
            </a:r>
            <a:endParaRPr lang="en-US" sz="9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C7A8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Выводы</a:t>
            </a:r>
            <a:endParaRPr lang="en-US" sz="2800" dirty="0"/>
          </a:p>
        </p:txBody>
      </p:sp>
      <p:sp>
        <p:nvSpPr>
          <p:cNvPr id="4" name="concl card 0"/>
          <p:cNvSpPr/>
          <p:nvPr/>
        </p:nvSpPr>
        <p:spPr>
          <a:xfrm>
            <a:off x="457200" y="12344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5" name="concl num circle 0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concl num 0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concl text 0"/>
          <p:cNvSpPr txBox="1"/>
          <p:nvPr/>
        </p:nvSpPr>
        <p:spPr>
          <a:xfrm>
            <a:off x="1417320" y="1371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Платформа — это ядро, открытые интерфейсы и участники, которые создают ценность</a:t>
            </a:r>
            <a:endParaRPr lang="en-US" sz="1300" dirty="0"/>
          </a:p>
        </p:txBody>
      </p:sp>
      <p:sp>
        <p:nvSpPr>
          <p:cNvPr id="8" name="concl card 1"/>
          <p:cNvSpPr/>
          <p:nvPr/>
        </p:nvSpPr>
        <p:spPr>
          <a:xfrm>
            <a:off x="4663440" y="12344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9" name="concl num circle 1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concl num 1"/>
          <p:cNvSpPr txBox="1"/>
          <p:nvPr/>
        </p:nvSpPr>
        <p:spPr>
          <a:xfrm>
            <a:off x="4892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concl text 1"/>
          <p:cNvSpPr txBox="1"/>
          <p:nvPr/>
        </p:nvSpPr>
        <p:spPr>
          <a:xfrm>
            <a:off x="5623560" y="1371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Этим она отличается и от программы, и от информационной системы</a:t>
            </a:r>
            <a:endParaRPr lang="en-US" sz="1300" dirty="0"/>
          </a:p>
        </p:txBody>
      </p:sp>
      <p:sp>
        <p:nvSpPr>
          <p:cNvPr id="12" name="concl card 2"/>
          <p:cNvSpPr/>
          <p:nvPr/>
        </p:nvSpPr>
        <p:spPr>
          <a:xfrm>
            <a:off x="457200" y="269748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3" name="concl num circle 2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concl num 2"/>
          <p:cNvSpPr txBox="1"/>
          <p:nvPr/>
        </p:nvSpPr>
        <p:spPr>
          <a:xfrm>
            <a:off x="6858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concl text 2"/>
          <p:cNvSpPr txBox="1"/>
          <p:nvPr/>
        </p:nvSpPr>
        <p:spPr>
          <a:xfrm>
            <a:off x="1417320" y="28346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Госуслуги — крупнейшая госплатформа; ГИСОГД — пока система, но с потенциалом платформы</a:t>
            </a:r>
            <a:endParaRPr lang="en-US" sz="1300" dirty="0"/>
          </a:p>
        </p:txBody>
      </p:sp>
      <p:sp>
        <p:nvSpPr>
          <p:cNvPr id="16" name="concl card 3"/>
          <p:cNvSpPr/>
          <p:nvPr/>
        </p:nvSpPr>
        <p:spPr>
          <a:xfrm>
            <a:off x="4663440" y="269748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F7A8C"/>
            </a:solidFill>
            <a:prstDash val="solid"/>
          </a:ln>
        </p:spPr>
      </p:sp>
      <p:sp>
        <p:nvSpPr>
          <p:cNvPr id="17" name="concl num circle 3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concl num 3"/>
          <p:cNvSpPr txBox="1"/>
          <p:nvPr/>
        </p:nvSpPr>
        <p:spPr>
          <a:xfrm>
            <a:off x="48920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concl text 3"/>
          <p:cNvSpPr txBox="1"/>
          <p:nvPr/>
        </p:nvSpPr>
        <p:spPr>
          <a:xfrm>
            <a:off x="5623560" y="28346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Вектор на годы вперёд — ИИ-агенты внутри платформ и суверенные модели в своём контуре</a:t>
            </a:r>
            <a:endParaRPr lang="en-US" sz="1300" dirty="0"/>
          </a:p>
        </p:txBody>
      </p:sp>
      <p:sp>
        <p:nvSpPr>
          <p:cNvPr id="20" name="thanks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Спасибо за внимание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tforms">
  <a:themeElements>
    <a:clrScheme name="Platforms">
      <a:dk1>
        <a:srgbClr val="1B1F24"/>
      </a:dk1>
      <a:lt1>
        <a:srgbClr val="FFFFFF"/>
      </a:lt1>
      <a:dk2>
        <a:srgbClr val="0E2A47"/>
      </a:dk2>
      <a:lt2>
        <a:srgbClr val="EEF2F7"/>
      </a:lt2>
      <a:accent1>
        <a:srgbClr val="1F7A8C"/>
      </a:accent1>
      <a:accent2>
        <a:srgbClr val="F2A541"/>
      </a:accent2>
      <a:accent3>
        <a:srgbClr val="3E8E7E"/>
      </a:accent3>
      <a:accent4>
        <a:srgbClr val="6C7A89"/>
      </a:accent4>
      <a:accent5>
        <a:srgbClr val="C9DCE8"/>
      </a:accent5>
      <a:accent6>
        <a:srgbClr val="8E3B46"/>
      </a:accent6>
      <a:hlink>
        <a:srgbClr val="1F7A8C"/>
      </a:hlink>
      <a:folHlink>
        <a:srgbClr val="6C7A89"/>
      </a:folHlink>
    </a:clrScheme>
    <a:fontScheme name="Platfor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2982</Words>
  <Application>Microsoft Office PowerPoint</Application>
  <PresentationFormat>Экран (16:9)</PresentationFormat>
  <Paragraphs>262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Platforms</vt:lpstr>
      <vt:lpstr>Платформы и платформенные решения</vt:lpstr>
      <vt:lpstr>Что такое платформа</vt:lpstr>
      <vt:lpstr>Программа, система, платформа</vt:lpstr>
      <vt:lpstr>Разновидности платформ</vt:lpstr>
      <vt:lpstr>Как устроена платформа</vt:lpstr>
      <vt:lpstr>Отрасли применения платформ</vt:lpstr>
      <vt:lpstr>Государственные платформы</vt:lpstr>
      <vt:lpstr>Госуслуги в цифрах</vt:lpstr>
      <vt:lpstr>ГИСОГД: платформа или система?</vt:lpstr>
      <vt:lpstr>Коммерческие платформы России</vt:lpstr>
      <vt:lpstr>Плюсы и минусы платформ</vt:lpstr>
      <vt:lpstr>ИИ-платформы: что это</vt:lpstr>
      <vt:lpstr>Российские ИИ-платформы</vt:lpstr>
      <vt:lpstr>Будущее платформ и ИИ</vt:lpstr>
      <vt:lpstr>Выводы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Платформы и платформенные решения</dc:title>
  <dc:subject>PptxGenJS Presentation</dc:subject>
  <dc:creator>Метлин Роман</dc:creator>
  <cp:lastModifiedBy>Маслов Владислав Евгеньевич</cp:lastModifiedBy>
  <cp:revision>5</cp:revision>
  <dcterms:created xsi:type="dcterms:W3CDTF">2026-10-23T08:02:48Z</dcterms:created>
  <dcterms:modified xsi:type="dcterms:W3CDTF">2026-10-23T12:11:18Z</dcterms:modified>
</cp:coreProperties>
</file>