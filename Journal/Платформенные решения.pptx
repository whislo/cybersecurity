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5484475" cy="8709025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6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935560" y="1425297"/>
            <a:ext cx="11613356" cy="303203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935560" y="4574255"/>
            <a:ext cx="11613356" cy="210266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48643-69DC-4744-A395-3BC371594D34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08187-6131-4121-B5EF-B1BB851773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4625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48643-69DC-4744-A395-3BC371594D34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08187-6131-4121-B5EF-B1BB851773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2913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6493" y="2171211"/>
            <a:ext cx="13355360" cy="362271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56493" y="5828195"/>
            <a:ext cx="13355360" cy="19050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48643-69DC-4744-A395-3BC371594D34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08187-6131-4121-B5EF-B1BB851773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025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064558" y="2318375"/>
            <a:ext cx="6580902" cy="552579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7839015" y="2318375"/>
            <a:ext cx="6580902" cy="552579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48643-69DC-4744-A395-3BC371594D34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08187-6131-4121-B5EF-B1BB851773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2011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6574" y="463677"/>
            <a:ext cx="13355360" cy="1683342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66575" y="2134921"/>
            <a:ext cx="6550658" cy="104629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066575" y="3181213"/>
            <a:ext cx="6550658" cy="467908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7839016" y="2134921"/>
            <a:ext cx="6582919" cy="104629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7839016" y="3181213"/>
            <a:ext cx="6582919" cy="467908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48643-69DC-4744-A395-3BC371594D34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08187-6131-4121-B5EF-B1BB851773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9718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48643-69DC-4744-A395-3BC371594D34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08187-6131-4121-B5EF-B1BB851773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097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48643-69DC-4744-A395-3BC371594D34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08187-6131-4121-B5EF-B1BB851773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5939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6575" y="580602"/>
            <a:ext cx="4994146" cy="203210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582920" y="1253940"/>
            <a:ext cx="7839015" cy="61890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066575" y="2612707"/>
            <a:ext cx="4994146" cy="484036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48643-69DC-4744-A395-3BC371594D34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08187-6131-4121-B5EF-B1BB851773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735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6575" y="580602"/>
            <a:ext cx="4994146" cy="203210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6582920" y="1253940"/>
            <a:ext cx="7839015" cy="61890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066575" y="2612707"/>
            <a:ext cx="4994146" cy="484036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48643-69DC-4744-A395-3BC371594D34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08187-6131-4121-B5EF-B1BB851773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3575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48643-69DC-4744-A395-3BC371594D34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08187-6131-4121-B5EF-B1BB851773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4302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11081077" y="463675"/>
            <a:ext cx="3338840" cy="7380496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064558" y="463675"/>
            <a:ext cx="9822964" cy="7380496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48643-69DC-4744-A395-3BC371594D34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08187-6131-4121-B5EF-B1BB851773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2563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4558" y="463677"/>
            <a:ext cx="13355360" cy="16833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64558" y="2318375"/>
            <a:ext cx="13355360" cy="55257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1064559" y="8071978"/>
            <a:ext cx="3484007" cy="463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148643-69DC-4744-A395-3BC371594D34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5129233" y="8071978"/>
            <a:ext cx="5226010" cy="463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935911" y="8071978"/>
            <a:ext cx="3484007" cy="463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08187-6131-4121-B5EF-B1BB851773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1448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E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2540000"/>
            <a:ext cx="13970000" cy="113877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ru-RU" sz="3400" b="1" smtClean="0">
                <a:solidFill>
                  <a:srgbClr val="FFFFFF"/>
                </a:solidFill>
                <a:latin typeface="Segoe UI" panose="020B0502040204020203" pitchFamily="34" charset="0"/>
              </a:rPr>
              <a:t>Платформы: Почему мы строим бизнес</a:t>
            </a:r>
          </a:p>
          <a:p>
            <a:pPr algn="ctr"/>
            <a:r>
              <a:rPr lang="ru-RU" sz="3400" b="1" smtClean="0">
                <a:solidFill>
                  <a:srgbClr val="FFFFFF"/>
                </a:solidFill>
                <a:latin typeface="Segoe UI" panose="020B0502040204020203" pitchFamily="34" charset="0"/>
              </a:rPr>
              <a:t>на «чужом» фундаменте</a:t>
            </a:r>
            <a:endParaRPr lang="ru-RU" sz="3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0" y="4572000"/>
            <a:ext cx="13970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ru-RU" dirty="0">
                <a:solidFill>
                  <a:srgbClr val="C8DCFF"/>
                </a:solidFill>
                <a:latin typeface="Segoe UI" panose="020B0502040204020203" pitchFamily="34" charset="0"/>
              </a:rPr>
              <a:t>Как перестать изобретать велосипед и начать </a:t>
            </a:r>
            <a:r>
              <a:rPr lang="ru-RU" dirty="0" smtClean="0">
                <a:solidFill>
                  <a:srgbClr val="C8DCFF"/>
                </a:solidFill>
                <a:latin typeface="Segoe UI" panose="020B0502040204020203" pitchFamily="34" charset="0"/>
              </a:rPr>
              <a:t>строить</a:t>
            </a:r>
          </a:p>
          <a:p>
            <a:pPr algn="ctr"/>
            <a:endParaRPr lang="ru-RU" dirty="0">
              <a:solidFill>
                <a:srgbClr val="C8DCFF"/>
              </a:solidFill>
              <a:latin typeface="Segoe UI" panose="020B0502040204020203" pitchFamily="34" charset="0"/>
            </a:endParaRPr>
          </a:p>
          <a:p>
            <a:pPr algn="ctr"/>
            <a:endParaRPr lang="ru-RU" dirty="0">
              <a:solidFill>
                <a:srgbClr val="C8DCFF"/>
              </a:solidFill>
              <a:latin typeface="Segoe UI" panose="020B0502040204020203" pitchFamily="34" charset="0"/>
            </a:endParaRPr>
          </a:p>
          <a:p>
            <a:pPr algn="ctr"/>
            <a:r>
              <a:rPr lang="ru-RU" dirty="0" smtClean="0">
                <a:solidFill>
                  <a:srgbClr val="C8DCFF"/>
                </a:solidFill>
                <a:latin typeface="Segoe UI" panose="020B0502040204020203" pitchFamily="34" charset="0"/>
              </a:rPr>
              <a:t>От проблемы к решению — путь через платформенный подход</a:t>
            </a:r>
            <a:endParaRPr lang="ru-RU" dirty="0">
              <a:solidFill>
                <a:srgbClr val="C8DCFF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0395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596233" y="4169847"/>
            <a:ext cx="42920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Почему мы каждый раз начинаем с нуля</a:t>
            </a:r>
            <a:r>
              <a:rPr lang="ru-RU" dirty="0" smtClean="0"/>
              <a:t>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8539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5483839" cy="1016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35000" y="317500"/>
            <a:ext cx="1422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400" b="1" smtClean="0">
                <a:solidFill>
                  <a:srgbClr val="004E8C"/>
                </a:solidFill>
                <a:latin typeface="Segoe UI" panose="020B0502040204020203" pitchFamily="34" charset="0"/>
              </a:rPr>
              <a:t>Вопрос, который мы себе задали</a:t>
            </a:r>
            <a:endParaRPr lang="ru-RU" sz="2400" b="1">
              <a:solidFill>
                <a:srgbClr val="004E8C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35000" y="1143000"/>
            <a:ext cx="2286000" cy="381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889000" y="1651000"/>
            <a:ext cx="137160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ru-RU" sz="2200" i="1" smtClean="0">
                <a:solidFill>
                  <a:srgbClr val="333333"/>
                </a:solidFill>
                <a:latin typeface="Segoe UI" panose="020B0502040204020203" pitchFamily="34" charset="0"/>
              </a:rPr>
              <a:t>Мы не формировали его вслух, но он висел в воздухе:</a:t>
            </a:r>
          </a:p>
          <a:p>
            <a:pPr algn="ctr"/>
            <a:r>
              <a:rPr lang="ru-RU" sz="2200" i="1" smtClean="0">
                <a:solidFill>
                  <a:srgbClr val="333333"/>
                </a:solidFill>
                <a:latin typeface="Segoe UI" panose="020B0502040204020203" pitchFamily="34" charset="0"/>
              </a:rPr>
              <a:t>«Почему мы каждый раз начинаем с нуля?»</a:t>
            </a:r>
            <a:endParaRPr lang="ru-RU" sz="2200" i="1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889000" y="3175000"/>
            <a:ext cx="13716000" cy="2540000"/>
          </a:xfrm>
          <a:prstGeom prst="round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tIns="254000" rIns="317500" rtlCol="0" anchor="ctr"/>
          <a:lstStyle/>
          <a:p>
            <a:pPr algn="ctr"/>
            <a:r>
              <a:rPr lang="ru-RU" sz="1700" smtClean="0">
                <a:solidFill>
                  <a:srgbClr val="333333"/>
                </a:solidFill>
                <a:latin typeface="Segoe UI" panose="020B0502040204020203" pitchFamily="34" charset="0"/>
              </a:rPr>
              <a:t>Каждый новый бизнес-инструмент — это десятки человеко-часов, написание кода, тестирование, поиск ошибок. Авторизация, выгрузка файлов, отчётность — мы пишем это снова и снова для каждой задачи.</a:t>
            </a:r>
          </a:p>
          <a:p>
            <a:pPr algn="ctr"/>
            <a:endParaRPr lang="ru-RU" sz="1700" smtClean="0">
              <a:solidFill>
                <a:srgbClr val="333333"/>
              </a:solidFill>
              <a:latin typeface="Segoe UI" panose="020B0502040204020203" pitchFamily="34" charset="0"/>
            </a:endParaRPr>
          </a:p>
          <a:p>
            <a:pPr algn="ctr"/>
            <a:r>
              <a:rPr lang="ru-RU" sz="1700" smtClean="0">
                <a:solidFill>
                  <a:srgbClr val="333333"/>
                </a:solidFill>
                <a:latin typeface="Segoe UI" panose="020B0502040204020203" pitchFamily="34" charset="0"/>
              </a:rPr>
              <a:t>Это неэффективно.</a:t>
            </a:r>
            <a:endParaRPr lang="ru-RU" sz="1700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89000" y="6223000"/>
            <a:ext cx="13716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ru-RU" sz="1700" b="1" smtClean="0">
                <a:solidFill>
                  <a:srgbClr val="0078D4"/>
                </a:solidFill>
                <a:latin typeface="Segoe UI" panose="020B0502040204020203" pitchFamily="34" charset="0"/>
              </a:rPr>
              <a:t>Что, если есть способ строить быстрее, дешевле и надёжнее? Есть — это платформы.</a:t>
            </a:r>
            <a:endParaRPr lang="ru-RU" sz="1700" b="1">
              <a:solidFill>
                <a:srgbClr val="0078D4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438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5483839" cy="1016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35000" y="317500"/>
            <a:ext cx="1422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400" b="1" smtClean="0">
                <a:solidFill>
                  <a:srgbClr val="004E8C"/>
                </a:solidFill>
                <a:latin typeface="Segoe UI" panose="020B0502040204020203" pitchFamily="34" charset="0"/>
              </a:rPr>
              <a:t>Платформа — это «умный конструктор»</a:t>
            </a:r>
            <a:endParaRPr lang="ru-RU" sz="2400" b="1">
              <a:solidFill>
                <a:srgbClr val="004E8C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35000" y="1143000"/>
            <a:ext cx="2286000" cy="381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762000" y="1460500"/>
            <a:ext cx="1397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600" smtClean="0">
                <a:solidFill>
                  <a:srgbClr val="333333"/>
                </a:solidFill>
                <a:latin typeface="Segoe UI" panose="020B0502040204020203" pitchFamily="34" charset="0"/>
              </a:rPr>
              <a:t>Платформа — это готовая программная среда, которая предоставляет базовый набор сервисов и функций. Вы не пишете код с нуля — вы включаете и настраиваете готовые модули.</a:t>
            </a:r>
            <a:endParaRPr lang="ru-RU" sz="1600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635000" y="2794000"/>
            <a:ext cx="6858000" cy="3556000"/>
          </a:xfrm>
          <a:prstGeom prst="roundRect">
            <a:avLst/>
          </a:prstGeom>
          <a:solidFill>
            <a:srgbClr val="F0F8FF"/>
          </a:solidFill>
          <a:ln>
            <a:solidFill>
              <a:srgbClr val="0078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28600" tIns="190500" rIns="228600" rtlCol="0" anchor="ctr"/>
          <a:lstStyle/>
          <a:p>
            <a:pPr algn="ctr"/>
            <a:r>
              <a:rPr lang="ru-RU" sz="1300" i="1" smtClean="0">
                <a:solidFill>
                  <a:srgbClr val="333333"/>
                </a:solidFill>
                <a:latin typeface="Segoe UI" panose="020B0502040204020203" pitchFamily="34" charset="0"/>
              </a:rPr>
              <a:t>«Продукт — это приложение решения, которое решает проблему. Платформа же создана для решения множества проблем в различных областях... Платформа — это скорее верстак. Это фундамент, который поддерживает множество инструментов, рабочих процессов и интеграций».</a:t>
            </a:r>
          </a:p>
          <a:p>
            <a:pPr algn="ctr"/>
            <a:endParaRPr lang="ru-RU" sz="1300" i="1" smtClean="0">
              <a:solidFill>
                <a:srgbClr val="333333"/>
              </a:solidFill>
              <a:latin typeface="Segoe UI" panose="020B0502040204020203" pitchFamily="34" charset="0"/>
            </a:endParaRPr>
          </a:p>
          <a:p>
            <a:pPr algn="ctr"/>
            <a:r>
              <a:rPr lang="ru-RU" sz="1300" i="1" smtClean="0">
                <a:solidFill>
                  <a:srgbClr val="333333"/>
                </a:solidFill>
                <a:latin typeface="Segoe UI" panose="020B0502040204020203" pitchFamily="34" charset="0"/>
              </a:rPr>
              <a:t>— AvePoint</a:t>
            </a:r>
            <a:endParaRPr lang="ru-RU" sz="1300" i="1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7874000" y="2794000"/>
            <a:ext cx="6858000" cy="3556000"/>
          </a:xfrm>
          <a:prstGeom prst="roundRect">
            <a:avLst/>
          </a:prstGeom>
          <a:solidFill>
            <a:srgbClr val="F0F8FF"/>
          </a:solidFill>
          <a:ln>
            <a:solidFill>
              <a:srgbClr val="0078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28600" tIns="190500" rIns="228600" rtlCol="0" anchor="ctr"/>
          <a:lstStyle/>
          <a:p>
            <a:pPr algn="ctr"/>
            <a:r>
              <a:rPr lang="ru-RU" sz="1300" i="1" smtClean="0">
                <a:solidFill>
                  <a:srgbClr val="333333"/>
                </a:solidFill>
                <a:latin typeface="Segoe UI" panose="020B0502040204020203" pitchFamily="34" charset="0"/>
              </a:rPr>
              <a:t>«Каждому приложению на вашем телефоне не нужно придумывать, как уведомить вас — это часть платформы... Платформы создают согласованность, уменьшают избыточность и позволяют разработчикам сосредоточиться на инновациях».</a:t>
            </a:r>
          </a:p>
          <a:p>
            <a:pPr algn="ctr"/>
            <a:endParaRPr lang="ru-RU" sz="1300" i="1" smtClean="0">
              <a:solidFill>
                <a:srgbClr val="333333"/>
              </a:solidFill>
              <a:latin typeface="Segoe UI" panose="020B0502040204020203" pitchFamily="34" charset="0"/>
            </a:endParaRPr>
          </a:p>
          <a:p>
            <a:pPr algn="ctr"/>
            <a:r>
              <a:rPr lang="ru-RU" sz="1300" i="1" smtClean="0">
                <a:solidFill>
                  <a:srgbClr val="333333"/>
                </a:solidFill>
                <a:latin typeface="Segoe UI" panose="020B0502040204020203" pitchFamily="34" charset="0"/>
              </a:rPr>
              <a:t>— AvePoint</a:t>
            </a:r>
            <a:endParaRPr lang="ru-RU" sz="1300" i="1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110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5483839" cy="1016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35000" y="317500"/>
            <a:ext cx="1422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400" b="1" smtClean="0">
                <a:solidFill>
                  <a:srgbClr val="004E8C"/>
                </a:solidFill>
                <a:latin typeface="Segoe UI" panose="020B0502040204020203" pitchFamily="34" charset="0"/>
              </a:rPr>
              <a:t>Как корпорации говорят о платформах</a:t>
            </a:r>
            <a:endParaRPr lang="ru-RU" sz="2400" b="1">
              <a:solidFill>
                <a:srgbClr val="004E8C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35000" y="1143000"/>
            <a:ext cx="2286000" cy="381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635000" y="1460500"/>
            <a:ext cx="14224000" cy="14605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78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28600" tIns="152400" rIns="228600" rtlCol="0" anchor="ctr"/>
          <a:lstStyle/>
          <a:p>
            <a:pPr algn="ctr"/>
            <a:r>
              <a:rPr lang="ru-RU" sz="1500" b="1" smtClean="0">
                <a:solidFill>
                  <a:srgbClr val="0078D4"/>
                </a:solidFill>
                <a:latin typeface="Segoe UI" panose="020B0502040204020203" pitchFamily="34" charset="0"/>
              </a:rPr>
              <a:t>Salesforce (Dreamforce 2025)</a:t>
            </a:r>
          </a:p>
          <a:p>
            <a:pPr algn="ctr"/>
            <a:r>
              <a:rPr lang="ru-RU" sz="1300" i="1" smtClean="0">
                <a:solidFill>
                  <a:srgbClr val="333333"/>
                </a:solidFill>
                <a:latin typeface="Segoe UI" panose="020B0502040204020203" pitchFamily="34" charset="0"/>
              </a:rPr>
              <a:t>«В главной презентации было показано, как технологии (ИИ, данные и CRM) объединяются под единым видением» — объединение экосистемы.</a:t>
            </a:r>
            <a:endParaRPr lang="ru-RU" sz="1300" i="1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635000" y="3111500"/>
            <a:ext cx="14224000" cy="14605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78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28600" tIns="152400" rIns="228600" rtlCol="0" anchor="ctr"/>
          <a:lstStyle/>
          <a:p>
            <a:pPr algn="ctr"/>
            <a:r>
              <a:rPr lang="ru-RU" sz="1500" b="1" smtClean="0">
                <a:solidFill>
                  <a:srgbClr val="0078D4"/>
                </a:solidFill>
                <a:latin typeface="Segoe UI" panose="020B0502040204020203" pitchFamily="34" charset="0"/>
              </a:rPr>
              <a:t>AWS (re:Invent 2025)</a:t>
            </a:r>
          </a:p>
          <a:p>
            <a:pPr algn="ctr"/>
            <a:r>
              <a:rPr lang="ru-RU" sz="1300" i="1" smtClean="0">
                <a:solidFill>
                  <a:srgbClr val="333333"/>
                </a:solidFill>
                <a:latin typeface="Segoe UI" panose="020B0502040204020203" pitchFamily="34" charset="0"/>
              </a:rPr>
              <a:t>«В Amazon всё начинается с клиента», — заявил Гарман, подчеркнув, что их главная цель — дать разработчикам «свободу изобретать».</a:t>
            </a:r>
            <a:endParaRPr lang="ru-RU" sz="1300" i="1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635000" y="4762500"/>
            <a:ext cx="14224000" cy="14605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78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28600" tIns="152400" rIns="228600" rtlCol="0" anchor="ctr"/>
          <a:lstStyle/>
          <a:p>
            <a:pPr algn="ctr"/>
            <a:r>
              <a:rPr lang="ru-RU" sz="1500" b="1" smtClean="0">
                <a:solidFill>
                  <a:srgbClr val="0078D4"/>
                </a:solidFill>
                <a:latin typeface="Segoe UI" panose="020B0502040204020203" pitchFamily="34" charset="0"/>
              </a:rPr>
              <a:t>Google Cloud (Next '26)</a:t>
            </a:r>
          </a:p>
          <a:p>
            <a:pPr algn="ctr"/>
            <a:r>
              <a:rPr lang="ru-RU" sz="1300" i="1" smtClean="0">
                <a:solidFill>
                  <a:srgbClr val="333333"/>
                </a:solidFill>
                <a:latin typeface="Segoe UI" panose="020B0502040204020203" pitchFamily="34" charset="0"/>
              </a:rPr>
              <a:t>«Томас Куриан заявил, что ответ кроется в «Unified Stack» — едином стеке, который включает всё: от чипов до готовых агентов и приложений».</a:t>
            </a:r>
            <a:endParaRPr lang="ru-RU" sz="1300" i="1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635000" y="6413500"/>
            <a:ext cx="14224000" cy="14605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78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28600" tIns="152400" rIns="228600" rtlCol="0" anchor="ctr"/>
          <a:lstStyle/>
          <a:p>
            <a:pPr algn="ctr"/>
            <a:r>
              <a:rPr lang="ru-RU" sz="1500" b="1" smtClean="0">
                <a:solidFill>
                  <a:srgbClr val="0078D4"/>
                </a:solidFill>
                <a:latin typeface="Segoe UI" panose="020B0502040204020203" pitchFamily="34" charset="0"/>
              </a:rPr>
              <a:t>SAP (Sapphire 2026)</a:t>
            </a:r>
          </a:p>
          <a:p>
            <a:pPr algn="ctr"/>
            <a:r>
              <a:rPr lang="ru-RU" sz="1300" i="1" smtClean="0">
                <a:solidFill>
                  <a:srgbClr val="333333"/>
                </a:solidFill>
                <a:latin typeface="Segoe UI" panose="020B0502040204020203" pitchFamily="34" charset="0"/>
              </a:rPr>
              <a:t>Глава SAP Кристиан Кляйн задал провокационный вопрос: «Будет ли SAP в будущем компанией-разработчиком программного обеспечения?» — намекая на трансформацию в платформенную компанию.</a:t>
            </a:r>
            <a:endParaRPr lang="ru-RU" sz="1300" i="1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792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5483839" cy="1016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35000" y="317500"/>
            <a:ext cx="1422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400" b="1" smtClean="0">
                <a:solidFill>
                  <a:srgbClr val="004E8C"/>
                </a:solidFill>
                <a:latin typeface="Segoe UI" panose="020B0502040204020203" pitchFamily="34" charset="0"/>
              </a:rPr>
              <a:t>Microsoft Power Platform — конструктор для бизнеса</a:t>
            </a:r>
            <a:endParaRPr lang="ru-RU" sz="2400" b="1">
              <a:solidFill>
                <a:srgbClr val="004E8C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35000" y="1143000"/>
            <a:ext cx="2286000" cy="381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762000" y="1397000"/>
            <a:ext cx="1397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500" smtClean="0">
                <a:solidFill>
                  <a:srgbClr val="333333"/>
                </a:solidFill>
                <a:latin typeface="Segoe UI" panose="020B0502040204020203" pitchFamily="34" charset="0"/>
              </a:rPr>
              <a:t>Набор облачных сервисов для создания приложений, автоматизации и анализа данных без написания сложного кода.</a:t>
            </a:r>
            <a:endParaRPr lang="ru-RU" sz="1500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567950"/>
              </p:ext>
            </p:extLst>
          </p:nvPr>
        </p:nvGraphicFramePr>
        <p:xfrm>
          <a:off x="761999" y="2222500"/>
          <a:ext cx="13970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85000">
                  <a:extLst>
                    <a:ext uri="{9D8B030D-6E8A-4147-A177-3AD203B41FA5}">
                      <a16:colId xmlns:a16="http://schemas.microsoft.com/office/drawing/2014/main" val="3215798557"/>
                    </a:ext>
                  </a:extLst>
                </a:gridCol>
                <a:gridCol w="6985000">
                  <a:extLst>
                    <a:ext uri="{9D8B030D-6E8A-4147-A177-3AD203B41FA5}">
                      <a16:colId xmlns:a16="http://schemas.microsoft.com/office/drawing/2014/main" val="1188254429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r>
                        <a:rPr lang="ru-RU" sz="1300" b="1" smtClean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Компонент</a:t>
                      </a:r>
                      <a:endParaRPr lang="ru-RU" sz="13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 marT="76200" marB="76200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1" smtClean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Что делает</a:t>
                      </a:r>
                      <a:endParaRPr lang="ru-RU" sz="13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 marT="76200" marB="76200"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99898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en-US" sz="1300" smtClean="0">
                          <a:solidFill>
                            <a:srgbClr val="333333"/>
                          </a:solidFill>
                          <a:latin typeface="Segoe UI" panose="020B0502040204020203" pitchFamily="34" charset="0"/>
                        </a:rPr>
                        <a:t>Power Apps</a:t>
                      </a:r>
                      <a:endParaRPr lang="ru-RU" sz="1300">
                        <a:solidFill>
                          <a:srgbClr val="333333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 marT="76200" marB="762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smtClean="0">
                          <a:solidFill>
                            <a:srgbClr val="333333"/>
                          </a:solidFill>
                          <a:latin typeface="Segoe UI" panose="020B0502040204020203" pitchFamily="34" charset="0"/>
                        </a:rPr>
                        <a:t>Создание приложений (формы, мобильные приложения)</a:t>
                      </a:r>
                      <a:endParaRPr lang="ru-RU" sz="1300">
                        <a:solidFill>
                          <a:srgbClr val="333333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 marT="76200" marB="762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85468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en-US" sz="1300" smtClean="0">
                          <a:solidFill>
                            <a:srgbClr val="333333"/>
                          </a:solidFill>
                          <a:latin typeface="Segoe UI" panose="020B0502040204020203" pitchFamily="34" charset="0"/>
                        </a:rPr>
                        <a:t>Power Automate</a:t>
                      </a:r>
                      <a:endParaRPr lang="ru-RU" sz="1300">
                        <a:solidFill>
                          <a:srgbClr val="333333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smtClean="0">
                          <a:solidFill>
                            <a:srgbClr val="333333"/>
                          </a:solidFill>
                          <a:latin typeface="Segoe UI" panose="020B0502040204020203" pitchFamily="34" charset="0"/>
                        </a:rPr>
                        <a:t>Автоматизация рутинных задач</a:t>
                      </a:r>
                      <a:endParaRPr lang="ru-RU" sz="1300">
                        <a:solidFill>
                          <a:srgbClr val="333333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853016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en-US" sz="1300" smtClean="0">
                          <a:solidFill>
                            <a:srgbClr val="333333"/>
                          </a:solidFill>
                          <a:latin typeface="Segoe UI" panose="020B0502040204020203" pitchFamily="34" charset="0"/>
                        </a:rPr>
                        <a:t>Power BI</a:t>
                      </a:r>
                      <a:endParaRPr lang="ru-RU" sz="1300">
                        <a:solidFill>
                          <a:srgbClr val="333333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 marT="76200" marB="762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smtClean="0">
                          <a:solidFill>
                            <a:srgbClr val="333333"/>
                          </a:solidFill>
                          <a:latin typeface="Segoe UI" panose="020B0502040204020203" pitchFamily="34" charset="0"/>
                        </a:rPr>
                        <a:t>Визуализация и аналитика данных</a:t>
                      </a:r>
                      <a:endParaRPr lang="ru-RU" sz="1300">
                        <a:solidFill>
                          <a:srgbClr val="333333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 marT="76200" marB="762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167003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r>
                        <a:rPr lang="en-US" sz="1300" smtClean="0">
                          <a:solidFill>
                            <a:srgbClr val="333333"/>
                          </a:solidFill>
                          <a:latin typeface="Segoe UI" panose="020B0502040204020203" pitchFamily="34" charset="0"/>
                        </a:rPr>
                        <a:t>Power Pages</a:t>
                      </a:r>
                      <a:endParaRPr lang="ru-RU" sz="1300">
                        <a:solidFill>
                          <a:srgbClr val="333333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smtClean="0">
                          <a:solidFill>
                            <a:srgbClr val="333333"/>
                          </a:solidFill>
                          <a:latin typeface="Segoe UI" panose="020B0502040204020203" pitchFamily="34" charset="0"/>
                        </a:rPr>
                        <a:t>Создание внешних веб-сайтов</a:t>
                      </a:r>
                      <a:endParaRPr lang="ru-RU" sz="1300">
                        <a:solidFill>
                          <a:srgbClr val="333333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868330"/>
                  </a:ext>
                </a:extLst>
              </a:tr>
            </a:tbl>
          </a:graphicData>
        </a:graphic>
      </p:graphicFrame>
      <p:sp>
        <p:nvSpPr>
          <p:cNvPr id="7" name="Скругленный прямоугольник 6"/>
          <p:cNvSpPr/>
          <p:nvPr/>
        </p:nvSpPr>
        <p:spPr>
          <a:xfrm>
            <a:off x="762000" y="5969000"/>
            <a:ext cx="13970000" cy="1270000"/>
          </a:xfrm>
          <a:prstGeom prst="round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tIns="152400" rIns="254000" rtlCol="0" anchor="ctr"/>
          <a:lstStyle/>
          <a:p>
            <a:pPr algn="ctr"/>
            <a:r>
              <a:rPr lang="ru-RU" sz="1400" smtClean="0">
                <a:solidFill>
                  <a:srgbClr val="FFFFFF"/>
                </a:solidFill>
                <a:latin typeface="Segoe UI" panose="020B0502040204020203" pitchFamily="34" charset="0"/>
              </a:rPr>
              <a:t>ИИ-агенты (Copilot Studio): Умные помощники, которые можно обучить своим правилам и данным. Они берут на себя рутинные задачи: отвечают на вопросы, создают заявки, помогают заполнять формы.</a:t>
            </a:r>
            <a:endParaRPr lang="ru-RU" sz="14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167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5483839" cy="1016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35000" y="317500"/>
            <a:ext cx="1422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400" b="1" smtClean="0">
                <a:solidFill>
                  <a:srgbClr val="004E8C"/>
                </a:solidFill>
                <a:latin typeface="Segoe UI" panose="020B0502040204020203" pitchFamily="34" charset="0"/>
              </a:rPr>
              <a:t>От проблемы к решению</a:t>
            </a:r>
            <a:endParaRPr lang="ru-RU" sz="2400" b="1">
              <a:solidFill>
                <a:srgbClr val="004E8C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35000" y="1143000"/>
            <a:ext cx="2286000" cy="381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087976"/>
              </p:ext>
            </p:extLst>
          </p:nvPr>
        </p:nvGraphicFramePr>
        <p:xfrm>
          <a:off x="634999" y="1587500"/>
          <a:ext cx="14224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2000">
                  <a:extLst>
                    <a:ext uri="{9D8B030D-6E8A-4147-A177-3AD203B41FA5}">
                      <a16:colId xmlns:a16="http://schemas.microsoft.com/office/drawing/2014/main" val="653569429"/>
                    </a:ext>
                  </a:extLst>
                </a:gridCol>
                <a:gridCol w="7112000">
                  <a:extLst>
                    <a:ext uri="{9D8B030D-6E8A-4147-A177-3AD203B41FA5}">
                      <a16:colId xmlns:a16="http://schemas.microsoft.com/office/drawing/2014/main" val="749325013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ru-RU" sz="1300" b="1" smtClean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Проблема (из начала)</a:t>
                      </a:r>
                      <a:endParaRPr lang="ru-RU" sz="13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 marT="76200" marB="76200"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1" smtClean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Решение на </a:t>
                      </a:r>
                      <a:r>
                        <a:rPr lang="en-US" sz="1300" b="1" smtClean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Power Platform</a:t>
                      </a:r>
                      <a:endParaRPr lang="ru-RU" sz="13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 marT="76200" marB="76200">
                    <a:solidFill>
                      <a:srgbClr val="007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73697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ru-RU" sz="1300" smtClean="0">
                          <a:solidFill>
                            <a:srgbClr val="333333"/>
                          </a:solidFill>
                          <a:latin typeface="Segoe UI" panose="020B0502040204020203" pitchFamily="34" charset="0"/>
                        </a:rPr>
                        <a:t>Пишем авторизацию с нуля</a:t>
                      </a:r>
                      <a:endParaRPr lang="ru-RU" sz="1300">
                        <a:solidFill>
                          <a:srgbClr val="333333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 marT="76200" marB="762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smtClean="0">
                          <a:solidFill>
                            <a:srgbClr val="333333"/>
                          </a:solidFill>
                          <a:latin typeface="Segoe UI" panose="020B0502040204020203" pitchFamily="34" charset="0"/>
                        </a:rPr>
                        <a:t>Готовые механизмы безопасности и ролей</a:t>
                      </a:r>
                      <a:endParaRPr lang="ru-RU" sz="1300">
                        <a:solidFill>
                          <a:srgbClr val="333333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 marT="76200" marB="762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47119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ru-RU" sz="1300" smtClean="0">
                          <a:solidFill>
                            <a:srgbClr val="333333"/>
                          </a:solidFill>
                          <a:latin typeface="Segoe UI" panose="020B0502040204020203" pitchFamily="34" charset="0"/>
                        </a:rPr>
                        <a:t>Выгрузка файлов — каждый раз заново</a:t>
                      </a:r>
                      <a:endParaRPr lang="ru-RU" sz="1300">
                        <a:solidFill>
                          <a:srgbClr val="333333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smtClean="0">
                          <a:solidFill>
                            <a:srgbClr val="333333"/>
                          </a:solidFill>
                          <a:latin typeface="Segoe UI" panose="020B0502040204020203" pitchFamily="34" charset="0"/>
                        </a:rPr>
                        <a:t>Встроенные коннекторы и интеграции</a:t>
                      </a:r>
                      <a:endParaRPr lang="ru-RU" sz="1300">
                        <a:solidFill>
                          <a:srgbClr val="333333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31073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ru-RU" sz="1300" smtClean="0">
                          <a:solidFill>
                            <a:srgbClr val="333333"/>
                          </a:solidFill>
                          <a:latin typeface="Segoe UI" panose="020B0502040204020203" pitchFamily="34" charset="0"/>
                        </a:rPr>
                        <a:t>Отчётность требует кода</a:t>
                      </a:r>
                      <a:endParaRPr lang="ru-RU" sz="1300">
                        <a:solidFill>
                          <a:srgbClr val="333333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 marT="76200" marB="762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smtClean="0">
                          <a:solidFill>
                            <a:srgbClr val="333333"/>
                          </a:solidFill>
                          <a:latin typeface="Segoe UI" panose="020B0502040204020203" pitchFamily="34" charset="0"/>
                        </a:rPr>
                        <a:t>Power BI — дашборды за часы</a:t>
                      </a:r>
                      <a:endParaRPr lang="ru-RU" sz="1300">
                        <a:solidFill>
                          <a:srgbClr val="333333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 marT="76200" marB="762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2918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ru-RU" sz="1300" smtClean="0">
                          <a:solidFill>
                            <a:srgbClr val="333333"/>
                          </a:solidFill>
                          <a:latin typeface="Segoe UI" panose="020B0502040204020203" pitchFamily="34" charset="0"/>
                        </a:rPr>
                        <a:t>Складской учёт — сложно</a:t>
                      </a:r>
                      <a:endParaRPr lang="ru-RU" sz="1300">
                        <a:solidFill>
                          <a:srgbClr val="333333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smtClean="0">
                          <a:solidFill>
                            <a:srgbClr val="333333"/>
                          </a:solidFill>
                          <a:latin typeface="Segoe UI" panose="020B0502040204020203" pitchFamily="34" charset="0"/>
                        </a:rPr>
                        <a:t>Мобильное приложение на Power Apps за дни</a:t>
                      </a:r>
                      <a:endParaRPr lang="ru-RU" sz="1300">
                        <a:solidFill>
                          <a:srgbClr val="333333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6061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2000" y="5969000"/>
            <a:ext cx="1397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ru-RU" sz="1500" i="1" smtClean="0">
                <a:solidFill>
                  <a:srgbClr val="0078D4"/>
                </a:solidFill>
                <a:latin typeface="Segoe UI" panose="020B0502040204020203" pitchFamily="34" charset="0"/>
              </a:rPr>
              <a:t>«Платформы дают вам возможность расти. Они решают не только сегодняшние проблемы, но и готовят к завтрашним».</a:t>
            </a:r>
            <a:endParaRPr lang="ru-RU" sz="1500" i="1">
              <a:solidFill>
                <a:srgbClr val="0078D4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963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5483839" cy="1016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35000" y="317500"/>
            <a:ext cx="1422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400" b="1" smtClean="0">
                <a:solidFill>
                  <a:srgbClr val="004E8C"/>
                </a:solidFill>
                <a:latin typeface="Segoe UI" panose="020B0502040204020203" pitchFamily="34" charset="0"/>
              </a:rPr>
              <a:t>Взвешиваем все «за» и «против»</a:t>
            </a:r>
            <a:endParaRPr lang="ru-RU" sz="2400" b="1">
              <a:solidFill>
                <a:srgbClr val="004E8C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35000" y="1143000"/>
            <a:ext cx="2286000" cy="381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689435"/>
              </p:ext>
            </p:extLst>
          </p:nvPr>
        </p:nvGraphicFramePr>
        <p:xfrm>
          <a:off x="507999" y="1460500"/>
          <a:ext cx="14478000" cy="5461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9000">
                  <a:extLst>
                    <a:ext uri="{9D8B030D-6E8A-4147-A177-3AD203B41FA5}">
                      <a16:colId xmlns:a16="http://schemas.microsoft.com/office/drawing/2014/main" val="3132981785"/>
                    </a:ext>
                  </a:extLst>
                </a:gridCol>
                <a:gridCol w="7239000">
                  <a:extLst>
                    <a:ext uri="{9D8B030D-6E8A-4147-A177-3AD203B41FA5}">
                      <a16:colId xmlns:a16="http://schemas.microsoft.com/office/drawing/2014/main" val="3553605553"/>
                    </a:ext>
                  </a:extLst>
                </a:gridCol>
              </a:tblGrid>
              <a:tr h="910167">
                <a:tc>
                  <a:txBody>
                    <a:bodyPr/>
                    <a:lstStyle/>
                    <a:p>
                      <a:r>
                        <a:rPr lang="ru-RU" sz="1300" b="1" dirty="0" smtClean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ПЛЮСЫ</a:t>
                      </a:r>
                      <a:endParaRPr lang="ru-RU" sz="1300" b="1" dirty="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 marT="76200" marB="76200">
                    <a:solidFill>
                      <a:srgbClr val="107C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b="1" dirty="0" smtClean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МИНУСЫ</a:t>
                      </a:r>
                      <a:endParaRPr lang="ru-RU" sz="1300" b="1" dirty="0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 marT="76200" marB="76200">
                    <a:solidFill>
                      <a:srgbClr val="C50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8151427"/>
                  </a:ext>
                </a:extLst>
              </a:tr>
              <a:tr h="910167">
                <a:tc>
                  <a:txBody>
                    <a:bodyPr/>
                    <a:lstStyle/>
                    <a:p>
                      <a:r>
                        <a:rPr lang="ru-RU" sz="1300" smtClean="0">
                          <a:solidFill>
                            <a:srgbClr val="333333"/>
                          </a:solidFill>
                          <a:latin typeface="Segoe UI" panose="020B0502040204020203" pitchFamily="34" charset="0"/>
                        </a:rPr>
                        <a:t>Скорость — дни и недели вместо месяцев</a:t>
                      </a:r>
                      <a:endParaRPr lang="ru-RU" sz="1300">
                        <a:solidFill>
                          <a:srgbClr val="333333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 marT="76200" marB="762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dirty="0" smtClean="0">
                          <a:solidFill>
                            <a:srgbClr val="333333"/>
                          </a:solidFill>
                          <a:latin typeface="Segoe UI" panose="020B0502040204020203" pitchFamily="34" charset="0"/>
                        </a:rPr>
                        <a:t>Ограниченность — вы ограничены функционалом платформы</a:t>
                      </a:r>
                      <a:endParaRPr lang="ru-RU" sz="1300" dirty="0">
                        <a:solidFill>
                          <a:srgbClr val="333333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 marT="76200" marB="762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4425241"/>
                  </a:ext>
                </a:extLst>
              </a:tr>
              <a:tr h="910167">
                <a:tc>
                  <a:txBody>
                    <a:bodyPr/>
                    <a:lstStyle/>
                    <a:p>
                      <a:r>
                        <a:rPr lang="ru-RU" sz="1300" smtClean="0">
                          <a:solidFill>
                            <a:srgbClr val="333333"/>
                          </a:solidFill>
                          <a:latin typeface="Segoe UI" panose="020B0502040204020203" pitchFamily="34" charset="0"/>
                        </a:rPr>
                        <a:t>Экономия — дешевле, чем разработка с нуля</a:t>
                      </a:r>
                      <a:endParaRPr lang="ru-RU" sz="1300">
                        <a:solidFill>
                          <a:srgbClr val="333333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dirty="0" smtClean="0">
                          <a:solidFill>
                            <a:srgbClr val="333333"/>
                          </a:solidFill>
                          <a:latin typeface="Segoe UI" panose="020B0502040204020203" pitchFamily="34" charset="0"/>
                        </a:rPr>
                        <a:t>Зависимость — от </a:t>
                      </a:r>
                      <a:r>
                        <a:rPr lang="ru-RU" sz="1300" dirty="0" err="1" smtClean="0">
                          <a:solidFill>
                            <a:srgbClr val="333333"/>
                          </a:solidFill>
                          <a:latin typeface="Segoe UI" panose="020B0502040204020203" pitchFamily="34" charset="0"/>
                        </a:rPr>
                        <a:t>вендора</a:t>
                      </a:r>
                      <a:r>
                        <a:rPr lang="ru-RU" sz="1300" dirty="0" smtClean="0">
                          <a:solidFill>
                            <a:srgbClr val="333333"/>
                          </a:solidFill>
                          <a:latin typeface="Segoe UI" panose="020B0502040204020203" pitchFamily="34" charset="0"/>
                        </a:rPr>
                        <a:t> и его решений</a:t>
                      </a:r>
                      <a:endParaRPr lang="ru-RU" sz="1300" dirty="0">
                        <a:solidFill>
                          <a:srgbClr val="333333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916847"/>
                  </a:ext>
                </a:extLst>
              </a:tr>
              <a:tr h="910167">
                <a:tc>
                  <a:txBody>
                    <a:bodyPr/>
                    <a:lstStyle/>
                    <a:p>
                      <a:r>
                        <a:rPr lang="ru-RU" sz="1300" smtClean="0">
                          <a:solidFill>
                            <a:srgbClr val="333333"/>
                          </a:solidFill>
                          <a:latin typeface="Segoe UI" panose="020B0502040204020203" pitchFamily="34" charset="0"/>
                        </a:rPr>
                        <a:t>Надёжность — готовые модули уже протестированы</a:t>
                      </a:r>
                      <a:endParaRPr lang="ru-RU" sz="1300">
                        <a:solidFill>
                          <a:srgbClr val="333333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 marT="76200" marB="762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smtClean="0">
                          <a:solidFill>
                            <a:srgbClr val="333333"/>
                          </a:solidFill>
                          <a:latin typeface="Segoe UI" panose="020B0502040204020203" pitchFamily="34" charset="0"/>
                        </a:rPr>
                        <a:t>Сложная кастомизация — глубокие доработки требуют специалистов</a:t>
                      </a:r>
                      <a:endParaRPr lang="ru-RU" sz="1300">
                        <a:solidFill>
                          <a:srgbClr val="333333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 marT="76200" marB="762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534776"/>
                  </a:ext>
                </a:extLst>
              </a:tr>
              <a:tr h="910167">
                <a:tc>
                  <a:txBody>
                    <a:bodyPr/>
                    <a:lstStyle/>
                    <a:p>
                      <a:r>
                        <a:rPr lang="ru-RU" sz="1300" smtClean="0">
                          <a:solidFill>
                            <a:srgbClr val="333333"/>
                          </a:solidFill>
                          <a:latin typeface="Segoe UI" panose="020B0502040204020203" pitchFamily="34" charset="0"/>
                        </a:rPr>
                        <a:t>Единое пространство — все данные в одном месте</a:t>
                      </a:r>
                      <a:endParaRPr lang="ru-RU" sz="1300">
                        <a:solidFill>
                          <a:srgbClr val="333333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smtClean="0">
                          <a:solidFill>
                            <a:srgbClr val="333333"/>
                          </a:solidFill>
                          <a:latin typeface="Segoe UI" panose="020B0502040204020203" pitchFamily="34" charset="0"/>
                        </a:rPr>
                        <a:t>Переплата — вы платите за платформу целиком, даже используя 30% функций</a:t>
                      </a:r>
                      <a:endParaRPr lang="ru-RU" sz="1300">
                        <a:solidFill>
                          <a:srgbClr val="333333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2397382"/>
                  </a:ext>
                </a:extLst>
              </a:tr>
              <a:tr h="910167">
                <a:tc>
                  <a:txBody>
                    <a:bodyPr/>
                    <a:lstStyle/>
                    <a:p>
                      <a:r>
                        <a:rPr lang="ru-RU" sz="1300" smtClean="0">
                          <a:solidFill>
                            <a:srgbClr val="333333"/>
                          </a:solidFill>
                          <a:latin typeface="Segoe UI" panose="020B0502040204020203" pitchFamily="34" charset="0"/>
                        </a:rPr>
                        <a:t>Масштабируемость — легко расширять</a:t>
                      </a:r>
                      <a:endParaRPr lang="ru-RU" sz="1300">
                        <a:solidFill>
                          <a:srgbClr val="333333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 marT="76200" marB="762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300" dirty="0" smtClean="0">
                          <a:solidFill>
                            <a:srgbClr val="333333"/>
                          </a:solidFill>
                          <a:latin typeface="Segoe UI" panose="020B0502040204020203" pitchFamily="34" charset="0"/>
                        </a:rPr>
                        <a:t>Риск «платформенного упадка» — качество может снижаться</a:t>
                      </a:r>
                      <a:endParaRPr lang="ru-RU" sz="1300" dirty="0">
                        <a:solidFill>
                          <a:srgbClr val="333333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L="101600" marR="101600" marT="76200" marB="762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9124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2964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5483839" cy="1016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35000" y="317500"/>
            <a:ext cx="1422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400" b="1" smtClean="0">
                <a:solidFill>
                  <a:srgbClr val="004E8C"/>
                </a:solidFill>
                <a:latin typeface="Segoe UI" panose="020B0502040204020203" pitchFamily="34" charset="0"/>
              </a:rPr>
              <a:t>Плюсы подробно: Скорость и экономия</a:t>
            </a:r>
            <a:endParaRPr lang="ru-RU" sz="2400" b="1">
              <a:solidFill>
                <a:srgbClr val="004E8C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35000" y="1143000"/>
            <a:ext cx="2286000" cy="381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762000" y="1778000"/>
            <a:ext cx="13970000" cy="2794000"/>
          </a:xfrm>
          <a:prstGeom prst="roundRect">
            <a:avLst/>
          </a:prstGeom>
          <a:solidFill>
            <a:srgbClr val="F0FDF4"/>
          </a:solidFill>
          <a:ln>
            <a:solidFill>
              <a:srgbClr val="107C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tIns="254000" rIns="317500" rtlCol="0" anchor="ctr"/>
          <a:lstStyle/>
          <a:p>
            <a:pPr algn="ctr"/>
            <a:r>
              <a:rPr lang="ru-RU" sz="1700" i="1" smtClean="0">
                <a:solidFill>
                  <a:srgbClr val="333333"/>
                </a:solidFill>
                <a:latin typeface="Segoe UI" panose="020B0502040204020203" pitchFamily="34" charset="0"/>
              </a:rPr>
              <a:t>«Готовое решение позволяет вывести приложение на рынок за недели, а не за месяцы, используя готовые компоненты... Это значительно более низкие первоначальные затраты и расходы на поддержку по сравнению с кастомной разработкой».</a:t>
            </a:r>
            <a:endParaRPr lang="ru-RU" sz="1700" i="1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5080000"/>
            <a:ext cx="1397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ru-RU" b="1" dirty="0" smtClean="0">
                <a:solidFill>
                  <a:srgbClr val="107C10"/>
                </a:solidFill>
                <a:latin typeface="Segoe UI" panose="020B0502040204020203" pitchFamily="34" charset="0"/>
              </a:rPr>
              <a:t>Пример: </a:t>
            </a:r>
            <a:r>
              <a:rPr lang="ru-RU" b="1" dirty="0">
                <a:solidFill>
                  <a:srgbClr val="107C10"/>
                </a:solidFill>
                <a:latin typeface="Segoe UI" panose="020B0502040204020203" pitchFamily="34" charset="0"/>
              </a:rPr>
              <a:t>Н</a:t>
            </a:r>
            <a:r>
              <a:rPr lang="ru-RU" b="1" dirty="0" smtClean="0">
                <a:solidFill>
                  <a:srgbClr val="107C10"/>
                </a:solidFill>
                <a:latin typeface="Segoe UI" panose="020B0502040204020203" pitchFamily="34" charset="0"/>
              </a:rPr>
              <a:t>аша </a:t>
            </a:r>
            <a:r>
              <a:rPr lang="ru-RU" b="1" dirty="0" smtClean="0">
                <a:solidFill>
                  <a:srgbClr val="107C10"/>
                </a:solidFill>
                <a:latin typeface="Segoe UI" panose="020B0502040204020203" pitchFamily="34" charset="0"/>
              </a:rPr>
              <a:t>система на </a:t>
            </a:r>
            <a:r>
              <a:rPr lang="ru-RU" b="1" dirty="0" err="1" smtClean="0">
                <a:solidFill>
                  <a:srgbClr val="107C10"/>
                </a:solidFill>
                <a:latin typeface="Segoe UI" panose="020B0502040204020203" pitchFamily="34" charset="0"/>
              </a:rPr>
              <a:t>Zammad</a:t>
            </a:r>
            <a:r>
              <a:rPr lang="ru-RU" b="1" dirty="0" smtClean="0">
                <a:solidFill>
                  <a:srgbClr val="107C10"/>
                </a:solidFill>
                <a:latin typeface="Segoe UI" panose="020B0502040204020203" pitchFamily="34" charset="0"/>
              </a:rPr>
              <a:t> заработала за дни, а не годы.</a:t>
            </a:r>
            <a:endParaRPr lang="ru-RU" b="1" dirty="0">
              <a:solidFill>
                <a:srgbClr val="107C10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568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5483839" cy="1016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35000" y="317500"/>
            <a:ext cx="1422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400" b="1" smtClean="0">
                <a:solidFill>
                  <a:srgbClr val="004E8C"/>
                </a:solidFill>
                <a:latin typeface="Segoe UI" panose="020B0502040204020203" pitchFamily="34" charset="0"/>
              </a:rPr>
              <a:t>Плюсы подробно: Надёжность и единое пространство</a:t>
            </a:r>
            <a:endParaRPr lang="ru-RU" sz="2400" b="1">
              <a:solidFill>
                <a:srgbClr val="004E8C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35000" y="1143000"/>
            <a:ext cx="2286000" cy="381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762000" y="1778000"/>
            <a:ext cx="13970000" cy="1905000"/>
          </a:xfrm>
          <a:prstGeom prst="roundRect">
            <a:avLst/>
          </a:prstGeom>
          <a:solidFill>
            <a:srgbClr val="F0FDF4"/>
          </a:solidFill>
          <a:ln>
            <a:solidFill>
              <a:srgbClr val="107C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tIns="254000" rIns="317500" rtlCol="0" anchor="ctr"/>
          <a:lstStyle/>
          <a:p>
            <a:pPr algn="ctr"/>
            <a:r>
              <a:rPr lang="ru-RU" sz="1600" i="1" smtClean="0">
                <a:solidFill>
                  <a:srgbClr val="333333"/>
                </a:solidFill>
                <a:latin typeface="Segoe UI" panose="020B0502040204020203" pitchFamily="34" charset="0"/>
              </a:rPr>
              <a:t>«Платформенный подход снижает общий риск проекта, так как быстрая разработка на платформе позволяет быстро вносить изменения».</a:t>
            </a:r>
            <a:endParaRPr lang="ru-RU" sz="1600" i="1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762000" y="4191000"/>
            <a:ext cx="13970000" cy="2159000"/>
          </a:xfrm>
          <a:prstGeom prst="roundRect">
            <a:avLst/>
          </a:prstGeom>
          <a:solidFill>
            <a:srgbClr val="F0F8FF"/>
          </a:solidFill>
          <a:ln>
            <a:solidFill>
              <a:srgbClr val="0078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tIns="254000" rIns="317500" rtlCol="0" anchor="ctr"/>
          <a:lstStyle/>
          <a:p>
            <a:pPr algn="ctr"/>
            <a:r>
              <a:rPr lang="ru-RU" sz="1600" i="1" smtClean="0">
                <a:solidFill>
                  <a:srgbClr val="333333"/>
                </a:solidFill>
                <a:latin typeface="Segoe UI" panose="020B0502040204020203" pitchFamily="34" charset="0"/>
              </a:rPr>
              <a:t>«Платформа — это когда экономическая ценность для всех, кто ею пользуется, превышает ценность компании, которая ее создала».</a:t>
            </a:r>
          </a:p>
          <a:p>
            <a:pPr algn="ctr"/>
            <a:endParaRPr lang="ru-RU" sz="1600" i="1" smtClean="0">
              <a:solidFill>
                <a:srgbClr val="333333"/>
              </a:solidFill>
              <a:latin typeface="Segoe UI" panose="020B0502040204020203" pitchFamily="34" charset="0"/>
            </a:endParaRPr>
          </a:p>
          <a:p>
            <a:pPr algn="ctr"/>
            <a:r>
              <a:rPr lang="ru-RU" sz="1600" i="1" smtClean="0">
                <a:solidFill>
                  <a:srgbClr val="333333"/>
                </a:solidFill>
                <a:latin typeface="Segoe UI" panose="020B0502040204020203" pitchFamily="34" charset="0"/>
              </a:rPr>
              <a:t>— Quora</a:t>
            </a:r>
            <a:endParaRPr lang="ru-RU" sz="1600" i="1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2718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5483839" cy="1016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35000" y="317500"/>
            <a:ext cx="1422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400" b="1" smtClean="0">
                <a:solidFill>
                  <a:srgbClr val="004E8C"/>
                </a:solidFill>
                <a:latin typeface="Segoe UI" panose="020B0502040204020203" pitchFamily="34" charset="0"/>
              </a:rPr>
              <a:t>Минусы подробно: Ограниченность и зависимость</a:t>
            </a:r>
            <a:endParaRPr lang="ru-RU" sz="2400" b="1">
              <a:solidFill>
                <a:srgbClr val="004E8C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35000" y="1143000"/>
            <a:ext cx="2286000" cy="381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762000" y="1905000"/>
            <a:ext cx="13970000" cy="1905000"/>
          </a:xfrm>
          <a:prstGeom prst="roundRect">
            <a:avLst/>
          </a:prstGeom>
          <a:solidFill>
            <a:srgbClr val="FFF5F5"/>
          </a:solidFill>
          <a:ln>
            <a:solidFill>
              <a:srgbClr val="C50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tIns="254000" rIns="317500" rtlCol="0" anchor="ctr"/>
          <a:lstStyle/>
          <a:p>
            <a:pPr algn="ctr"/>
            <a:r>
              <a:rPr lang="ru-RU" sz="1600" i="1" smtClean="0">
                <a:solidFill>
                  <a:srgbClr val="333333"/>
                </a:solidFill>
                <a:latin typeface="Segoe UI" panose="020B0502040204020203" pitchFamily="34" charset="0"/>
              </a:rPr>
              <a:t>«Платформы могут поддерживать интеграции, но часто вносят ограничения в то, как системы общаются друг с другом».</a:t>
            </a:r>
            <a:endParaRPr lang="ru-RU" sz="1600" i="1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762000" y="4318000"/>
            <a:ext cx="13970000" cy="1905000"/>
          </a:xfrm>
          <a:prstGeom prst="roundRect">
            <a:avLst/>
          </a:prstGeom>
          <a:solidFill>
            <a:srgbClr val="FFF5F5"/>
          </a:solidFill>
          <a:ln>
            <a:solidFill>
              <a:srgbClr val="C50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tIns="254000" rIns="317500" rtlCol="0" anchor="ctr"/>
          <a:lstStyle/>
          <a:p>
            <a:pPr algn="ctr"/>
            <a:r>
              <a:rPr lang="ru-RU" sz="1600" i="1" smtClean="0">
                <a:solidFill>
                  <a:srgbClr val="333333"/>
                </a:solidFill>
                <a:latin typeface="Segoe UI" panose="020B0502040204020203" pitchFamily="34" charset="0"/>
              </a:rPr>
              <a:t>«Использование существующей платформы снижает технические риски и время выхода на рынок, но жертвует долгосрочной гибкостью».</a:t>
            </a:r>
            <a:endParaRPr lang="ru-RU" sz="1600" i="1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723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5483839" cy="1016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35000" y="317500"/>
            <a:ext cx="1422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400" b="1" smtClean="0">
                <a:solidFill>
                  <a:srgbClr val="004E8C"/>
                </a:solidFill>
                <a:latin typeface="Segoe UI" panose="020B0502040204020203" pitchFamily="34" charset="0"/>
              </a:rPr>
              <a:t>Минусы подробно: Риски и критика</a:t>
            </a:r>
            <a:endParaRPr lang="ru-RU" sz="2400" b="1">
              <a:solidFill>
                <a:srgbClr val="004E8C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35000" y="1143000"/>
            <a:ext cx="2286000" cy="381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762000" y="1778000"/>
            <a:ext cx="13970000" cy="1524000"/>
          </a:xfrm>
          <a:prstGeom prst="roundRect">
            <a:avLst/>
          </a:prstGeom>
          <a:solidFill>
            <a:srgbClr val="FFF5F5"/>
          </a:solidFill>
          <a:ln>
            <a:solidFill>
              <a:srgbClr val="C50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tIns="228600" rIns="317500" rtlCol="0" anchor="ctr"/>
          <a:lstStyle/>
          <a:p>
            <a:pPr algn="ctr"/>
            <a:r>
              <a:rPr lang="ru-RU" sz="1600" smtClean="0">
                <a:solidFill>
                  <a:srgbClr val="333333"/>
                </a:solidFill>
                <a:latin typeface="Segoe UI" panose="020B0502040204020203" pitchFamily="34" charset="0"/>
              </a:rPr>
              <a:t>Концепция «платформенного упадка» — крупные платформы систематически снижают качество.</a:t>
            </a:r>
            <a:endParaRPr lang="ru-RU" sz="1600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762000" y="3810000"/>
            <a:ext cx="13970000" cy="2286000"/>
          </a:xfrm>
          <a:prstGeom prst="roundRect">
            <a:avLst/>
          </a:prstGeom>
          <a:solidFill>
            <a:srgbClr val="FFF5F5"/>
          </a:solidFill>
          <a:ln>
            <a:solidFill>
              <a:srgbClr val="C50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tIns="228600" rIns="317500" rtlCol="0" anchor="ctr"/>
          <a:lstStyle/>
          <a:p>
            <a:pPr algn="ctr"/>
            <a:r>
              <a:rPr lang="ru-RU" sz="1600" i="1" smtClean="0">
                <a:solidFill>
                  <a:srgbClr val="333333"/>
                </a:solidFill>
                <a:latin typeface="Segoe UI" panose="020B0502040204020203" pitchFamily="34" charset="0"/>
              </a:rPr>
              <a:t>Майк Пепи в книге «Against Platforms» утверждает, что платформы, обещая удобство и связь, на самом деле оптимизируют скорость и эффективность в ущерб человеческим ценностям.</a:t>
            </a:r>
            <a:endParaRPr lang="ru-RU" sz="1600" i="1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81953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5483839" cy="1016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35000" y="317500"/>
            <a:ext cx="1422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400" b="1" smtClean="0">
                <a:solidFill>
                  <a:srgbClr val="004E8C"/>
                </a:solidFill>
                <a:latin typeface="Segoe UI" panose="020B0502040204020203" pitchFamily="34" charset="0"/>
              </a:rPr>
              <a:t>Мы уже используем платформы — Zammad как пример</a:t>
            </a:r>
            <a:endParaRPr lang="ru-RU" sz="2400" b="1">
              <a:solidFill>
                <a:srgbClr val="004E8C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35000" y="1143000"/>
            <a:ext cx="2286000" cy="381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762000" y="1460500"/>
            <a:ext cx="1397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1600" b="1" smtClean="0">
                <a:solidFill>
                  <a:srgbClr val="0078D4"/>
                </a:solidFill>
                <a:latin typeface="Segoe UI" panose="020B0502040204020203" pitchFamily="34" charset="0"/>
              </a:rPr>
              <a:t>Что мы сделали:</a:t>
            </a:r>
            <a:endParaRPr lang="ru-RU" sz="1600" b="1">
              <a:solidFill>
                <a:srgbClr val="0078D4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762000" y="1968500"/>
            <a:ext cx="13970000" cy="2032000"/>
          </a:xfrm>
          <a:prstGeom prst="round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9400" tIns="152400" rIns="279400" rtlCol="0" anchor="ctr"/>
          <a:lstStyle/>
          <a:p>
            <a:pPr algn="ctr"/>
            <a:r>
              <a:rPr lang="ru-RU" sz="1500" smtClean="0">
                <a:solidFill>
                  <a:srgbClr val="333333"/>
                </a:solidFill>
                <a:latin typeface="Segoe UI" panose="020B0502040204020203" pitchFamily="34" charset="0"/>
              </a:rPr>
              <a:t>Мы взяли готовую платформу Zammad (Helpdesk) и настроили под свои нужды:</a:t>
            </a:r>
          </a:p>
          <a:p>
            <a:pPr algn="ctr"/>
            <a:r>
              <a:rPr lang="ru-RU" sz="1500" smtClean="0">
                <a:solidFill>
                  <a:srgbClr val="333333"/>
                </a:solidFill>
                <a:latin typeface="Segoe UI" panose="020B0502040204020203" pitchFamily="34" charset="0"/>
              </a:rPr>
              <a:t>• Подключили почту</a:t>
            </a:r>
          </a:p>
          <a:p>
            <a:pPr algn="ctr"/>
            <a:r>
              <a:rPr lang="ru-RU" sz="1500" smtClean="0">
                <a:solidFill>
                  <a:srgbClr val="333333"/>
                </a:solidFill>
                <a:latin typeface="Segoe UI" panose="020B0502040204020203" pitchFamily="34" charset="0"/>
              </a:rPr>
              <a:t>• Настроили статусы заявок</a:t>
            </a:r>
          </a:p>
          <a:p>
            <a:pPr algn="ctr"/>
            <a:r>
              <a:rPr lang="ru-RU" sz="1500" smtClean="0">
                <a:solidFill>
                  <a:srgbClr val="333333"/>
                </a:solidFill>
                <a:latin typeface="Segoe UI" panose="020B0502040204020203" pitchFamily="34" charset="0"/>
              </a:rPr>
              <a:t>• Отслеживаем метрики</a:t>
            </a:r>
          </a:p>
          <a:p>
            <a:pPr algn="ctr"/>
            <a:r>
              <a:rPr lang="ru-RU" sz="1500" smtClean="0">
                <a:solidFill>
                  <a:srgbClr val="333333"/>
                </a:solidFill>
                <a:latin typeface="Segoe UI" panose="020B0502040204020203" pitchFamily="34" charset="0"/>
              </a:rPr>
              <a:t>• Планируем расширенную отчётность</a:t>
            </a:r>
            <a:endParaRPr lang="ru-RU" sz="1500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762000" y="4445000"/>
            <a:ext cx="13970000" cy="2540000"/>
          </a:xfrm>
          <a:prstGeom prst="roundRect">
            <a:avLst/>
          </a:prstGeom>
          <a:solidFill>
            <a:srgbClr val="F0F8FF"/>
          </a:solidFill>
          <a:ln>
            <a:solidFill>
              <a:srgbClr val="0078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9400" tIns="190500" rIns="279400" rtlCol="0" anchor="ctr"/>
          <a:lstStyle/>
          <a:p>
            <a:pPr algn="ctr"/>
            <a:r>
              <a:rPr lang="ru-RU" sz="1400" i="1" smtClean="0">
                <a:solidFill>
                  <a:srgbClr val="333333"/>
                </a:solidFill>
                <a:latin typeface="Segoe UI" panose="020B0502040204020203" pitchFamily="34" charset="0"/>
              </a:rPr>
              <a:t>Как это соотносится с платформенным подходом:</a:t>
            </a:r>
          </a:p>
          <a:p>
            <a:pPr algn="ctr"/>
            <a:endParaRPr lang="ru-RU" sz="1400" i="1" smtClean="0">
              <a:solidFill>
                <a:srgbClr val="333333"/>
              </a:solidFill>
              <a:latin typeface="Segoe UI" panose="020B0502040204020203" pitchFamily="34" charset="0"/>
            </a:endParaRPr>
          </a:p>
          <a:p>
            <a:pPr algn="ctr"/>
            <a:r>
              <a:rPr lang="ru-RU" sz="1400" i="1" smtClean="0">
                <a:solidFill>
                  <a:srgbClr val="333333"/>
                </a:solidFill>
                <a:latin typeface="Segoe UI" panose="020B0502040204020203" pitchFamily="34" charset="0"/>
              </a:rPr>
              <a:t>«Вы не можете начать как платформенная компания — вы должны начать с инновационного MVP... Как только вы создадите плацдарм, определяйте смежные продукты, где «1+1=3», и сшивайте их в единую платформу».</a:t>
            </a:r>
          </a:p>
          <a:p>
            <a:pPr algn="ctr"/>
            <a:endParaRPr lang="ru-RU" sz="1400" i="1" smtClean="0">
              <a:solidFill>
                <a:srgbClr val="333333"/>
              </a:solidFill>
              <a:latin typeface="Segoe UI" panose="020B0502040204020203" pitchFamily="34" charset="0"/>
            </a:endParaRPr>
          </a:p>
          <a:p>
            <a:pPr algn="ctr"/>
            <a:r>
              <a:rPr lang="ru-RU" sz="1400" i="1" smtClean="0">
                <a:solidFill>
                  <a:srgbClr val="333333"/>
                </a:solidFill>
                <a:latin typeface="Segoe UI" panose="020B0502040204020203" pitchFamily="34" charset="0"/>
              </a:rPr>
              <a:t>— Никеш Арора, Palo Alto Networks</a:t>
            </a:r>
            <a:endParaRPr lang="ru-RU" sz="1400" i="1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2334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5483839" cy="1016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35000" y="317500"/>
            <a:ext cx="1422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400" b="1" smtClean="0">
                <a:solidFill>
                  <a:srgbClr val="004E8C"/>
                </a:solidFill>
                <a:latin typeface="Segoe UI" panose="020B0502040204020203" pitchFamily="34" charset="0"/>
              </a:rPr>
              <a:t>Платформы — это не тренд, это новая реальность</a:t>
            </a:r>
            <a:endParaRPr lang="ru-RU" sz="2400" b="1">
              <a:solidFill>
                <a:srgbClr val="004E8C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35000" y="1143000"/>
            <a:ext cx="2286000" cy="381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762000" y="1587500"/>
            <a:ext cx="13970000" cy="1143000"/>
          </a:xfrm>
          <a:prstGeom prst="roundRect">
            <a:avLst/>
          </a:prstGeom>
          <a:solidFill>
            <a:srgbClr val="F0F8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rtlCol="0" anchor="ctr"/>
          <a:lstStyle/>
          <a:p>
            <a:pPr algn="ctr"/>
            <a:r>
              <a:rPr lang="ru-RU" sz="1500" i="1" smtClean="0">
                <a:solidFill>
                  <a:srgbClr val="333333"/>
                </a:solidFill>
                <a:latin typeface="Segoe UI" panose="020B0502040204020203" pitchFamily="34" charset="0"/>
              </a:rPr>
              <a:t>«Платформа не владеет производством, она владеет связью»</a:t>
            </a:r>
          </a:p>
          <a:p>
            <a:pPr algn="ctr"/>
            <a:r>
              <a:rPr lang="ru-RU" sz="1500" i="1" smtClean="0">
                <a:solidFill>
                  <a:srgbClr val="333333"/>
                </a:solidFill>
                <a:latin typeface="Segoe UI" panose="020B0502040204020203" pitchFamily="34" charset="0"/>
              </a:rPr>
              <a:t>— Санджиб Сахао, Ingram Micro</a:t>
            </a:r>
            <a:endParaRPr lang="ru-RU" sz="1500" i="1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762000" y="2984500"/>
            <a:ext cx="13970000" cy="1143000"/>
          </a:xfrm>
          <a:prstGeom prst="roundRect">
            <a:avLst/>
          </a:prstGeom>
          <a:solidFill>
            <a:srgbClr val="F0F8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0" rtlCol="0" anchor="ctr"/>
          <a:lstStyle/>
          <a:p>
            <a:pPr algn="ctr"/>
            <a:r>
              <a:rPr lang="ru-RU" sz="1500" i="1" smtClean="0">
                <a:solidFill>
                  <a:srgbClr val="333333"/>
                </a:solidFill>
                <a:latin typeface="Segoe UI" panose="020B0502040204020203" pitchFamily="34" charset="0"/>
              </a:rPr>
              <a:t>«Эра пилотных проектов закончена, наступает эра агентов»</a:t>
            </a:r>
          </a:p>
          <a:p>
            <a:pPr algn="ctr"/>
            <a:r>
              <a:rPr lang="ru-RU" sz="1500" i="1" smtClean="0">
                <a:solidFill>
                  <a:srgbClr val="333333"/>
                </a:solidFill>
                <a:latin typeface="Segoe UI" panose="020B0502040204020203" pitchFamily="34" charset="0"/>
              </a:rPr>
              <a:t>— Google Cloud Next '26</a:t>
            </a:r>
            <a:endParaRPr lang="ru-RU" sz="1500" i="1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762000" y="4572000"/>
            <a:ext cx="13970000" cy="2540000"/>
          </a:xfrm>
          <a:prstGeom prst="round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17500" tIns="190500" rIns="317500" rtlCol="0" anchor="ctr"/>
          <a:lstStyle/>
          <a:p>
            <a:pPr algn="ctr"/>
            <a:r>
              <a:rPr lang="ru-RU" sz="1500" smtClean="0">
                <a:solidFill>
                  <a:srgbClr val="FFFFFF"/>
                </a:solidFill>
                <a:latin typeface="Segoe UI" panose="020B0502040204020203" pitchFamily="34" charset="0"/>
              </a:rPr>
              <a:t>Наш вывод: Да, платформы — это будущее. Но будущее осознанное. Мы выбираем платформы, понимая их ограничения, и используем их там, где они дают максимальную ценность:</a:t>
            </a:r>
          </a:p>
          <a:p>
            <a:pPr algn="ctr"/>
            <a:endParaRPr lang="ru-RU" sz="1500" smtClean="0">
              <a:solidFill>
                <a:srgbClr val="FFFFFF"/>
              </a:solidFill>
              <a:latin typeface="Segoe UI" panose="020B0502040204020203" pitchFamily="34" charset="0"/>
            </a:endParaRPr>
          </a:p>
          <a:p>
            <a:pPr algn="ctr"/>
            <a:r>
              <a:rPr lang="ru-RU" sz="1500" smtClean="0">
                <a:solidFill>
                  <a:srgbClr val="FFFFFF"/>
                </a:solidFill>
                <a:latin typeface="Segoe UI" panose="020B0502040204020203" pitchFamily="34" charset="0"/>
              </a:rPr>
              <a:t>• Быстрый старт</a:t>
            </a:r>
          </a:p>
          <a:p>
            <a:pPr algn="ctr"/>
            <a:r>
              <a:rPr lang="ru-RU" sz="1500" smtClean="0">
                <a:solidFill>
                  <a:srgbClr val="FFFFFF"/>
                </a:solidFill>
                <a:latin typeface="Segoe UI" panose="020B0502040204020203" pitchFamily="34" charset="0"/>
              </a:rPr>
              <a:t>• Снижение затрат</a:t>
            </a:r>
          </a:p>
          <a:p>
            <a:pPr algn="ctr"/>
            <a:r>
              <a:rPr lang="ru-RU" sz="1500" smtClean="0">
                <a:solidFill>
                  <a:srgbClr val="FFFFFF"/>
                </a:solidFill>
                <a:latin typeface="Segoe UI" panose="020B0502040204020203" pitchFamily="34" charset="0"/>
              </a:rPr>
              <a:t>• Возможность сосредоточиться на бизнесе, а не на коде</a:t>
            </a:r>
            <a:endParaRPr lang="ru-RU" sz="15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859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5483839" cy="1016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635000" y="317500"/>
            <a:ext cx="14224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2400" b="1" smtClean="0">
                <a:solidFill>
                  <a:srgbClr val="004E8C"/>
                </a:solidFill>
                <a:latin typeface="Segoe UI" panose="020B0502040204020203" pitchFamily="34" charset="0"/>
              </a:rPr>
              <a:t>Главная мысль</a:t>
            </a:r>
            <a:endParaRPr lang="ru-RU" sz="2400" b="1">
              <a:solidFill>
                <a:srgbClr val="004E8C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35000" y="1143000"/>
            <a:ext cx="2286000" cy="38100"/>
          </a:xfrm>
          <a:prstGeom prst="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889000" y="1778000"/>
            <a:ext cx="13716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ru-RU" smtClean="0">
                <a:solidFill>
                  <a:srgbClr val="333333"/>
                </a:solidFill>
                <a:latin typeface="Segoe UI" panose="020B0502040204020203" pitchFamily="34" charset="0"/>
              </a:rPr>
              <a:t>Платформа — это не серебряная пуля. Это инструмент, который при правильном использовании даёт скорость, экономию и надёжность. Мы уже встали на этот путь с Zammad. Теперь наша задача — развивать его осознанно, используя лучшие практики мировых лидеров и учитывая риски.</a:t>
            </a:r>
            <a:endParaRPr lang="ru-RU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1143000" y="4699000"/>
            <a:ext cx="13208000" cy="1905000"/>
          </a:xfrm>
          <a:prstGeom prst="round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0" tIns="317500" rIns="381000" rtlCol="0" anchor="ctr"/>
          <a:lstStyle/>
          <a:p>
            <a:pPr algn="ctr"/>
            <a:r>
              <a:rPr lang="ru-RU" sz="1500" i="1" smtClean="0">
                <a:solidFill>
                  <a:srgbClr val="FFFFFF"/>
                </a:solidFill>
                <a:latin typeface="Segoe UI" panose="020B0502040204020203" pitchFamily="34" charset="0"/>
              </a:rPr>
              <a:t>«Платформа — это когда экономическая ценность для всех, кто ею пользуется, превышает ценность компании, которая ее создала»</a:t>
            </a:r>
          </a:p>
          <a:p>
            <a:pPr algn="ctr"/>
            <a:endParaRPr lang="ru-RU" sz="1500" i="1" smtClean="0">
              <a:solidFill>
                <a:srgbClr val="FFFFFF"/>
              </a:solidFill>
              <a:latin typeface="Segoe UI" panose="020B0502040204020203" pitchFamily="34" charset="0"/>
            </a:endParaRPr>
          </a:p>
          <a:p>
            <a:pPr algn="ctr"/>
            <a:r>
              <a:rPr lang="ru-RU" sz="1500" i="1" smtClean="0">
                <a:solidFill>
                  <a:srgbClr val="FFFFFF"/>
                </a:solidFill>
                <a:latin typeface="Segoe UI" panose="020B0502040204020203" pitchFamily="34" charset="0"/>
              </a:rPr>
              <a:t>— Quora</a:t>
            </a:r>
            <a:endParaRPr lang="ru-RU" sz="1500" i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3005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E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2921000"/>
            <a:ext cx="13970000" cy="67710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ru-RU" sz="3800" b="1" smtClean="0">
                <a:solidFill>
                  <a:srgbClr val="FFFFFF"/>
                </a:solidFill>
                <a:latin typeface="Segoe UI" panose="020B0502040204020203" pitchFamily="34" charset="0"/>
              </a:rPr>
              <a:t>Спасибо за внимание!</a:t>
            </a:r>
            <a:endParaRPr lang="ru-RU" sz="38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62000" y="4318000"/>
            <a:ext cx="1397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ru-RU" sz="2000" smtClean="0">
                <a:solidFill>
                  <a:srgbClr val="C8DCFF"/>
                </a:solidFill>
                <a:latin typeface="Segoe UI" panose="020B0502040204020203" pitchFamily="34" charset="0"/>
              </a:rPr>
              <a:t>Готов ответить на ваши вопросы</a:t>
            </a:r>
            <a:endParaRPr lang="ru-RU" sz="2000">
              <a:solidFill>
                <a:srgbClr val="C8DCFF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0306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1062</Words>
  <Application>Microsoft Office PowerPoint</Application>
  <PresentationFormat>Произвольный</PresentationFormat>
  <Paragraphs>112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Segoe UI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Маслов Владислав Евгеньевич</dc:creator>
  <cp:lastModifiedBy>Маслов Владислав Евгеньевич</cp:lastModifiedBy>
  <cp:revision>5</cp:revision>
  <dcterms:created xsi:type="dcterms:W3CDTF">2026-07-28T14:15:34Z</dcterms:created>
  <dcterms:modified xsi:type="dcterms:W3CDTF">2026-10-21T07:40:18Z</dcterms:modified>
</cp:coreProperties>
</file>